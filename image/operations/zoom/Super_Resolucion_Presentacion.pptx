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714" r:id="rId2"/>
  </p:sldMasterIdLst>
  <p:notesMasterIdLst>
    <p:notesMasterId r:id="rId18"/>
  </p:notesMasterIdLst>
  <p:sldIdLst>
    <p:sldId id="270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9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98" d="100"/>
          <a:sy n="98" d="100"/>
        </p:scale>
        <p:origin x="78" y="3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8ED39E-A067-4821-B358-BC0484240193}" type="datetimeFigureOut">
              <a:rPr lang="es-ES_tradnl" smtClean="0"/>
              <a:t>04/07/2026</a:t>
            </a:fld>
            <a:endParaRPr lang="es-ES_trad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963B8-B18F-4905-B1B0-81D4EB1982B5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591008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24140CD-4D1E-4695-BE12-1B8C36B1C3D2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2393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84FE7-6C19-7CE5-478B-86D26C4782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6139DD-6B03-6C07-3095-922100FA8F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_trad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30DA23-0828-E2FE-6FB0-BBBEA496E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04/07/2026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756A94-8195-46E5-F014-6B231B77B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0D4A65-9145-205F-0F20-32B1F17DC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0677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DB56D-C1E0-8CE2-4B4D-D45DF2E00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97F60-0665-D253-8BBB-7F4CEA917D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02DBB-A777-6252-3EDC-53D9CE809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04/07/2026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A88264-2C92-FB9E-E358-AD65526F2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D9DC2-C8B9-AA4A-0732-C23648358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11359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0C072-14F6-50E2-D7EA-09B5CB5DA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78946-A297-8D4E-4F52-66A3D9726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A0589-DB2B-B3E9-F847-22E3F00C8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04/07/2026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94031A-409F-F31B-B4D5-FB6C025F9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9EA1D-04E5-63AA-4A55-EA6FEE3057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93298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443B7-3EA0-BE01-43FD-ED1568192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86DE1-734B-1C04-FD95-CD9E422DEB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D3BFBB-8A0F-F12A-74A9-57F35C7D00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10ACA9-CB0F-F5B0-5925-5B1F702F3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04/07/2026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49AC9-63BA-0E50-1FB1-AFD3EB12D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B85DC2-BB4B-FB80-37A9-1DCBE4B56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20925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FD1BB-976B-67F1-1693-EA701C85C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3D388-4109-C66D-2A84-5888305A0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57752-7017-6C1C-166E-4E14027E4E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1F7B0B-9735-1EE3-15C2-15B87075D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0DDEAA-87A9-B47A-8E3F-B1B5081AAD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9B92DD-A016-FF7C-1C36-B72C9335C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04/07/2026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55203D-CD52-AB39-0D9D-C3218AB45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1180C0-44B4-643C-BE1A-75F7F2467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73293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75771-7C3D-3FB0-AE93-B5182391F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59EC2E-FA9A-A836-67BA-FA615AE00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04/07/2026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441B2F-E50B-E5D2-B8F3-7E1068365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46EE5E-B6C1-4811-C064-BB0679E2F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573164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8EBD92C-31E2-2721-7BFF-A6E0B46E8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04/07/2026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E822E3-3BBC-27AF-A99A-51B512EDE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6B1110-A4BF-897E-E835-7A812F4E8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8689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E799F-E783-A4B4-C33B-A6519E436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3C16DD-B878-0387-0D81-D6718BF517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685CEF-5491-E59F-2DD3-D445405A94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60C00-8783-BD22-420C-F72BE4DF8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04/07/2026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B8984F-EF25-8FA9-6F19-48B5FFF21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E9750C-F85D-7661-848D-796BDEB3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401906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5652F-527F-6354-7EE6-0AE3B09B5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B09282-A44B-3CE0-0E9C-85F51FE6EC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53FD9-B586-E018-7696-F9D389D1FA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9EF618-F66D-E8E9-A588-2E76A0C021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04/07/2026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A37DF4-E1DD-47F5-EBFC-05EF12A87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9CBD46-A86A-0D49-C806-2AB4AEE61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43280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B8910-F7C5-AC62-7187-A3EF441A4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F1284D-B652-C1B8-BAF9-3D307D3BD8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B773F2-2C3F-29BD-FAE3-AB971AAB3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04/07/2026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EB4BD3-38F6-4723-5396-1B7EEF198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98F08-2852-EB9A-7684-1D7593369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80289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9C6C38-7AF7-4BB2-982F-54D588F046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BB4BBF-768F-DB22-5C12-34524F537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906C43-93B1-6425-C858-616851A5F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CAF03-6D07-473F-9655-B5E7F3C4F9BA}" type="datetimeFigureOut">
              <a:rPr lang="en-GB" smtClean="0"/>
              <a:t>04/07/2026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F9E0C-727C-CE5E-1143-C749C381A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478DD7-AECE-E95D-8B15-0D7E243CA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3AD44-2AA6-4C68-B73F-07BE6515601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71769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B865A8-FA25-5D29-2BFD-DE88A3265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2B68E3-8CD0-C512-568D-5E575BCC4F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98D9DD-815A-357B-4740-7514916ED3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F647F-3444-BA03-8664-D8BAF89B65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FAF3CF-8C15-0080-60B5-B26A0AD08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852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3" name="Rectangle 52">
            <a:extLst>
              <a:ext uri="{FF2B5EF4-FFF2-40B4-BE49-F238E27FC236}">
                <a16:creationId xmlns:a16="http://schemas.microsoft.com/office/drawing/2014/main" id="{7E734232-46A8-4884-9A59-B7E3BA4BC3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Super Resolution Pipeline"/>
          <p:cNvPicPr>
            <a:picLocks noChangeAspect="1"/>
          </p:cNvPicPr>
          <p:nvPr/>
        </p:nvPicPr>
        <p:blipFill>
          <a:blip r:embed="rId3"/>
          <a:srcRect t="7695" r="-1" b="9770"/>
          <a:stretch>
            <a:fillRect/>
          </a:stretch>
        </p:blipFill>
        <p:spPr>
          <a:xfrm>
            <a:off x="-3" y="-8371"/>
            <a:ext cx="8115287" cy="447081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5E8313D-CBF5-2D2E-A9CE-A2CC8D777E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1816" r="27151" b="1"/>
          <a:stretch>
            <a:fillRect/>
          </a:stretch>
        </p:blipFill>
        <p:spPr>
          <a:xfrm>
            <a:off x="8115292" y="-8371"/>
            <a:ext cx="4076700" cy="4470815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D346B8D2-3218-41A5-B817-9ABFB108C6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462444"/>
            <a:ext cx="8115290" cy="2394056"/>
          </a:xfrm>
          <a:prstGeom prst="rect">
            <a:avLst/>
          </a:prstGeom>
          <a:gradFill>
            <a:gsLst>
              <a:gs pos="10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8D6B9EF-FF47-487C-8B82-F9F2B9A54A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60944"/>
            <a:ext cx="8115285" cy="2397055"/>
          </a:xfrm>
          <a:prstGeom prst="rect">
            <a:avLst/>
          </a:prstGeom>
          <a:gradFill>
            <a:gsLst>
              <a:gs pos="7000">
                <a:srgbClr val="000000">
                  <a:alpha val="49000"/>
                </a:srgbClr>
              </a:gs>
              <a:gs pos="67000">
                <a:schemeClr val="accent1">
                  <a:lumMod val="75000"/>
                  <a:alpha val="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1F85BB-65D7-0B6B-A637-312ABF2024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5739" y="4768553"/>
            <a:ext cx="6867289" cy="1115412"/>
          </a:xfrm>
        </p:spPr>
        <p:txBody>
          <a:bodyPr>
            <a:norm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Computer Vision:</a:t>
            </a:r>
            <a:br>
              <a:rPr lang="en-US" sz="1600" b="1">
                <a:solidFill>
                  <a:srgbClr val="FFFFFF"/>
                </a:solidFill>
              </a:rPr>
            </a:br>
            <a:br>
              <a:rPr lang="en-US" sz="1600">
                <a:solidFill>
                  <a:srgbClr val="FFFFFF"/>
                </a:solidFill>
              </a:rPr>
            </a:br>
            <a:r>
              <a:rPr lang="en-US" sz="1600" b="1">
                <a:solidFill>
                  <a:srgbClr val="FFFFFF"/>
                </a:solidFill>
                <a:latin typeface="Arial" panose="020B0604020202020204" pitchFamily="34" charset="0"/>
              </a:rPr>
              <a:t>From Classic Interpolation to Super Resolution SISR</a:t>
            </a:r>
            <a:br>
              <a:rPr lang="en-US" sz="1600" b="0" i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</a:br>
            <a:endParaRPr lang="en-GB" sz="1600">
              <a:solidFill>
                <a:srgbClr val="FFFFFF"/>
              </a:solidFill>
            </a:endParaRPr>
          </a:p>
        </p:txBody>
      </p:sp>
      <p:pic>
        <p:nvPicPr>
          <p:cNvPr id="7" name="Picture 6" descr="A logo of a machine learning engineer&#10;&#10;AI-generated content may be incorrect.">
            <a:extLst>
              <a:ext uri="{FF2B5EF4-FFF2-40B4-BE49-F238E27FC236}">
                <a16:creationId xmlns:a16="http://schemas.microsoft.com/office/drawing/2014/main" id="{B974484C-9450-0A16-98B9-ED33CB95F57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1588" r="1" b="6775"/>
          <a:stretch>
            <a:fillRect/>
          </a:stretch>
        </p:blipFill>
        <p:spPr>
          <a:xfrm>
            <a:off x="8115292" y="4454317"/>
            <a:ext cx="4076700" cy="24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3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869680" y="822960"/>
            <a:ext cx="347472" cy="347472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869680" y="1207008"/>
            <a:ext cx="347472" cy="34747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869680" y="1591056"/>
            <a:ext cx="347472" cy="347472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869680" y="1975104"/>
            <a:ext cx="347472" cy="347472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253728" y="822960"/>
            <a:ext cx="347472" cy="34747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253728" y="1207008"/>
            <a:ext cx="347472" cy="347472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253728" y="1591056"/>
            <a:ext cx="347472" cy="347472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253728" y="1975104"/>
            <a:ext cx="347472" cy="347472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637776" y="822960"/>
            <a:ext cx="347472" cy="347472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9637776" y="1207008"/>
            <a:ext cx="347472" cy="347472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637776" y="1591056"/>
            <a:ext cx="347472" cy="347472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637776" y="1975104"/>
            <a:ext cx="347472" cy="34747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021824" y="822960"/>
            <a:ext cx="347472" cy="347472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0021824" y="1207008"/>
            <a:ext cx="347472" cy="347472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021824" y="1591056"/>
            <a:ext cx="347472" cy="34747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021824" y="1975104"/>
            <a:ext cx="347472" cy="347472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77240" y="1371600"/>
            <a:ext cx="3383280" cy="384048"/>
          </a:xfrm>
          <a:prstGeom prst="roundRect">
            <a:avLst>
              <a:gd name="adj" fmla="val 8000"/>
            </a:avLst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200" b="1" i="0">
                <a:solidFill>
                  <a:srgbClr val="22B8CF"/>
                </a:solidFill>
                <a:latin typeface="Segoe UI"/>
              </a:rPr>
              <a:t>SESION TECNICA  •  COMPUTER 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1965960"/>
            <a:ext cx="87782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0" i="0">
                <a:solidFill>
                  <a:srgbClr val="FFFFFF"/>
                </a:solidFill>
                <a:latin typeface="Segoe UI Light"/>
              </a:rPr>
              <a:t>De la interpolacion clasica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0" i="0">
                <a:solidFill>
                  <a:srgbClr val="FFFFFF"/>
                </a:solidFill>
                <a:latin typeface="Segoe UI Light"/>
              </a:rPr>
              <a:t>a la </a:t>
            </a:r>
            <a:r>
              <a:rPr sz="4000" b="1" i="0">
                <a:solidFill>
                  <a:srgbClr val="22B8CF"/>
                </a:solidFill>
                <a:latin typeface="Segoe UI Light"/>
              </a:rPr>
              <a:t>Super-Resolucion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C9D6EA"/>
                </a:solidFill>
                <a:latin typeface="Segoe UI Light"/>
              </a:rPr>
              <a:t>con Deep Learning y Transformers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34340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FB2CE"/>
                </a:solidFill>
                <a:latin typeface="Segoe UI"/>
              </a:rPr>
              <a:t>Nearest → Bilineal → Bicubica → Lanczos   ▪   RAISR   ▪   SRCNN/EDSR   ▪   SRGAN/Real-ESRGAN   ▪   SwinIR/Swin2SR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715000"/>
            <a:ext cx="10607040" cy="15240"/>
          </a:xfrm>
          <a:prstGeom prst="rect">
            <a:avLst/>
          </a:prstGeom>
          <a:solidFill>
            <a:srgbClr val="2A3B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589788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4748B"/>
                </a:solidFill>
                <a:latin typeface="Segoe UI"/>
              </a:rPr>
              <a:t>Notebook: </a:t>
            </a:r>
            <a:r>
              <a:rPr sz="1200" b="0" i="0">
                <a:solidFill>
                  <a:srgbClr val="B8C7DE"/>
                </a:solidFill>
                <a:latin typeface="Consolas"/>
              </a:rPr>
              <a:t>Zoom_Resize_Image_extended.ipynb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89788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Colab • GPU T4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6CDF"/>
                </a:solidFill>
                <a:latin typeface="Sego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F172A"/>
                </a:solidFill>
                <a:latin typeface="Segoe UI Light"/>
              </a:rPr>
              <a:t>Que vamos a recorrer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4748B"/>
                </a:solidFill>
                <a:latin typeface="Segoe UI"/>
              </a:rPr>
              <a:t>De la interpolacion a la Super-Resolucion  •  The Machine Learning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39496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82296" cy="1078992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1655064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2D6CDF"/>
                </a:solidFill>
                <a:latin typeface="Segoe UI Ligh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673352"/>
            <a:ext cx="4160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0F172A"/>
                </a:solidFill>
                <a:latin typeface="Segoe UI"/>
              </a:rPr>
              <a:t>El problema del reescalado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4748B"/>
                </a:solidFill>
                <a:latin typeface="Segoe UI"/>
              </a:rPr>
              <a:t>Por que ampliar es un problema mal planteado (ill-posed)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97480"/>
            <a:ext cx="539496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697480"/>
            <a:ext cx="82296" cy="1078992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843784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22B8CF"/>
                </a:solidFill>
                <a:latin typeface="Segoe UI Light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862072"/>
            <a:ext cx="4160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0F172A"/>
                </a:solidFill>
                <a:latin typeface="Segoe UI"/>
              </a:rPr>
              <a:t>Interpolacion clasica y su techo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4748B"/>
                </a:solidFill>
                <a:latin typeface="Segoe UI"/>
              </a:rPr>
              <a:t>Nearest, Bilineal, Bicubica, Lanczos: filtros lineales fijos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86200"/>
            <a:ext cx="539496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886200"/>
            <a:ext cx="82296" cy="1078992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4032504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0E9E8A"/>
                </a:solidFill>
                <a:latin typeface="Segoe UI Ligh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050792"/>
            <a:ext cx="4160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0F172A"/>
                </a:solidFill>
                <a:latin typeface="Segoe UI"/>
              </a:rPr>
              <a:t>Formular la Super-Resolucion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4748B"/>
                </a:solidFill>
                <a:latin typeface="Segoe UI"/>
              </a:rPr>
              <a:t>F(LR;theta) y el modelo de degradacion para generar pares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074920"/>
            <a:ext cx="539496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5074920"/>
            <a:ext cx="82296" cy="1078992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5221224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2A63B"/>
                </a:solidFill>
                <a:latin typeface="Segoe UI Light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5239512"/>
            <a:ext cx="4160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0F172A"/>
                </a:solidFill>
                <a:latin typeface="Segoe UI"/>
              </a:rPr>
              <a:t>De ejemplos a RAISR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4748B"/>
                </a:solidFill>
                <a:latin typeface="Segoe UI"/>
              </a:rPr>
              <a:t>La tabla de vecindarios, la maldicion de la dimensionalidad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508760"/>
            <a:ext cx="539496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09360" y="1508760"/>
            <a:ext cx="82296" cy="1078992"/>
          </a:xfrm>
          <a:prstGeom prst="rect">
            <a:avLst/>
          </a:prstGeom>
          <a:solidFill>
            <a:srgbClr val="7A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65392" y="1655064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7A5CE0"/>
                </a:solidFill>
                <a:latin typeface="Segoe UI Light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1673352"/>
            <a:ext cx="4160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0F172A"/>
                </a:solidFill>
                <a:latin typeface="Segoe UI"/>
              </a:rPr>
              <a:t>CNNs para SR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4748B"/>
                </a:solidFill>
                <a:latin typeface="Segoe UI"/>
              </a:rPr>
              <a:t>SRCNN, ESPCN, EDSR, RCAN y las funciones de perdida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697480"/>
            <a:ext cx="539496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09360" y="2697480"/>
            <a:ext cx="82296" cy="1078992"/>
          </a:xfrm>
          <a:prstGeom prst="rect">
            <a:avLst/>
          </a:prstGeom>
          <a:solidFill>
            <a:srgbClr val="E04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565392" y="2843784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E04F5F"/>
                </a:solidFill>
                <a:latin typeface="Segoe UI Light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2862072"/>
            <a:ext cx="4160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0F172A"/>
                </a:solidFill>
                <a:latin typeface="Segoe UI"/>
              </a:rPr>
              <a:t>El salto perceptual (GAN)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4748B"/>
                </a:solidFill>
                <a:latin typeface="Segoe UI"/>
              </a:rPr>
              <a:t>SRGAN, ESRGAN, Real-ESRGAN: texturas realistas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3886200"/>
            <a:ext cx="539496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309360" y="3886200"/>
            <a:ext cx="82296" cy="1078992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65392" y="4032504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122A4A"/>
                </a:solidFill>
                <a:latin typeface="Segoe UI Light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050792"/>
            <a:ext cx="4160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0F172A"/>
                </a:solidFill>
                <a:latin typeface="Segoe UI"/>
              </a:rPr>
              <a:t>Transformers: SwinIR / Swin2SR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4748B"/>
                </a:solidFill>
                <a:latin typeface="Segoe UI"/>
              </a:rPr>
              <a:t>Atencion por ventanas y contexto global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5074920"/>
            <a:ext cx="539496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309360" y="5074920"/>
            <a:ext cx="82296" cy="1078992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565392" y="5221224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5B6B82"/>
                </a:solidFill>
                <a:latin typeface="Segoe UI Light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5239512"/>
            <a:ext cx="4160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550" b="1" i="0">
                <a:solidFill>
                  <a:srgbClr val="0F172A"/>
                </a:solidFill>
                <a:latin typeface="Segoe UI"/>
              </a:rPr>
              <a:t>Metricas y demo del notebook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4748B"/>
                </a:solidFill>
                <a:latin typeface="Segoe UI"/>
              </a:rPr>
              <a:t>PSNR/SSIM/LPIPS, el dilema percepcion-distorsion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6CDF"/>
                </a:solidFill>
                <a:latin typeface="Segoe UI"/>
              </a:rPr>
              <a:t>01 — 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F172A"/>
                </a:solidFill>
                <a:latin typeface="Segoe UI Light"/>
              </a:rPr>
              <a:t>Ampliar es inventar pixeles que no existian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4748B"/>
                </a:solidFill>
                <a:latin typeface="Segoe UI"/>
              </a:rPr>
              <a:t>De la interpolacion a la Super-Resolucion  •  The Machine Learning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82296" cy="448056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D6CDF"/>
                </a:solidFill>
                <a:latin typeface="Segoe UI"/>
              </a:rPr>
              <a:t>Un problema mal planteado (ill-posed)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50749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350" b="1" i="0">
                <a:solidFill>
                  <a:srgbClr val="0F172A"/>
                </a:solidFill>
                <a:latin typeface="Segoe UI"/>
              </a:rPr>
              <a:t>Ampliar factor s </a:t>
            </a:r>
            <a:r>
              <a:rPr sz="1350" b="0" i="0">
                <a:solidFill>
                  <a:srgbClr val="0F172A"/>
                </a:solidFill>
                <a:latin typeface="Segoe UI"/>
              </a:rPr>
              <a:t>→ hay que generar s²·W·H − W·H pixeles nuevos que no estaban.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350" b="1" i="0">
                <a:solidFill>
                  <a:srgbClr val="0F172A"/>
                </a:solidFill>
                <a:latin typeface="Segoe UI"/>
              </a:rPr>
              <a:t>Infinitas soluciones. </a:t>
            </a:r>
            <a:r>
              <a:rPr sz="1350" b="0" i="0">
                <a:solidFill>
                  <a:srgbClr val="0F172A"/>
                </a:solidFill>
                <a:latin typeface="Segoe UI"/>
              </a:rPr>
              <a:t>Muchas imagenes HR distintas, al reducirse, dan la misma LR.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350" b="1" i="0">
                <a:solidFill>
                  <a:srgbClr val="0F172A"/>
                </a:solidFill>
                <a:latin typeface="Segoe UI"/>
              </a:rPr>
              <a:t>Todo metodo elige una. </a:t>
            </a:r>
            <a:r>
              <a:rPr sz="1350" b="0" i="0">
                <a:solidFill>
                  <a:srgbClr val="0F172A"/>
                </a:solidFill>
                <a:latin typeface="Segoe UI"/>
              </a:rPr>
              <a:t>Ampliar = elegir una de esas infinitas HR posibles.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350" b="1" i="0">
                <a:solidFill>
                  <a:srgbClr val="0F172A"/>
                </a:solidFill>
                <a:latin typeface="Segoe UI"/>
              </a:rPr>
              <a:t>Interpolacion: prior fija. </a:t>
            </a:r>
            <a:r>
              <a:rPr sz="1350" b="0" i="0">
                <a:solidFill>
                  <a:srgbClr val="0F172A"/>
                </a:solidFill>
                <a:latin typeface="Segoe UI"/>
              </a:rPr>
              <a:t>Asume que la imagen es suave (media de vecinos).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350" b="1" i="0">
                <a:solidFill>
                  <a:srgbClr val="0F172A"/>
                </a:solidFill>
                <a:latin typeface="Segoe UI"/>
              </a:rPr>
              <a:t>SR aprendida: prior de datos. </a:t>
            </a:r>
            <a:r>
              <a:rPr sz="1350" b="0" i="0">
                <a:solidFill>
                  <a:srgbClr val="0F172A"/>
                </a:solidFill>
                <a:latin typeface="Segoe UI"/>
              </a:rPr>
              <a:t>Sabe que las imagenes naturales tienen bordes, piel, madera... y puede 'alucinar' detalle plausible.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320040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4645152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LR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7772400" y="2240280"/>
            <a:ext cx="1554480" cy="1645920"/>
          </a:xfrm>
          <a:prstGeom prst="bentConnector3">
            <a:avLst/>
          </a:prstGeom>
          <a:ln w="19050">
            <a:solidFill>
              <a:srgbClr val="D8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326880" y="1737360"/>
            <a:ext cx="1005840" cy="1005840"/>
          </a:xfrm>
          <a:prstGeom prst="roundRect">
            <a:avLst>
              <a:gd name="adj" fmla="val 8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326880" y="2788920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4748B"/>
                </a:solidFill>
                <a:latin typeface="Segoe UI"/>
              </a:rPr>
              <a:t>HR ?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7772400" y="3657600"/>
            <a:ext cx="1554480" cy="228600"/>
          </a:xfrm>
          <a:prstGeom prst="bentConnector3">
            <a:avLst/>
          </a:prstGeom>
          <a:ln w="19050">
            <a:solidFill>
              <a:srgbClr val="D8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326880" y="3154680"/>
            <a:ext cx="1005840" cy="1005840"/>
          </a:xfrm>
          <a:prstGeom prst="roundRect">
            <a:avLst>
              <a:gd name="adj" fmla="val 8000"/>
            </a:avLst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26880" y="4206240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4748B"/>
                </a:solidFill>
                <a:latin typeface="Segoe UI"/>
              </a:rPr>
              <a:t>HR 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72400" y="3886200"/>
            <a:ext cx="1554480" cy="1188720"/>
          </a:xfrm>
          <a:prstGeom prst="bentConnector3">
            <a:avLst/>
          </a:prstGeom>
          <a:ln w="19050">
            <a:solidFill>
              <a:srgbClr val="D8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326880" y="4572000"/>
            <a:ext cx="1005840" cy="1005840"/>
          </a:xfrm>
          <a:prstGeom prst="roundRect">
            <a:avLst>
              <a:gd name="adj" fmla="val 8000"/>
            </a:avLst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326880" y="5623560"/>
            <a:ext cx="1005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4748B"/>
                </a:solidFill>
                <a:latin typeface="Segoe UI"/>
              </a:rPr>
              <a:t>HR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532120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4748B"/>
                </a:solidFill>
                <a:latin typeface="Segoe UI"/>
              </a:rPr>
              <a:t>Una LR → muchas HR posibles. El metodo aporta el </a:t>
            </a:r>
            <a:r>
              <a:rPr sz="1200" b="1" i="1">
                <a:solidFill>
                  <a:srgbClr val="2D6CDF"/>
                </a:solidFill>
                <a:latin typeface="Segoe UI"/>
              </a:rPr>
              <a:t>prior</a:t>
            </a:r>
            <a:r>
              <a:rPr sz="1200" b="0" i="0">
                <a:solidFill>
                  <a:srgbClr val="64748B"/>
                </a:solidFill>
                <a:latin typeface="Segoe UI"/>
              </a:rPr>
              <a:t> que decide.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6CDF"/>
                </a:solidFill>
                <a:latin typeface="Segoe UI"/>
              </a:rPr>
              <a:t>02 — INTERPOLACION CLASICA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F172A"/>
                </a:solidFill>
                <a:latin typeface="Segoe UI Light"/>
              </a:rPr>
              <a:t>Cuatro nucleos, una misma familia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4748B"/>
                </a:solidFill>
                <a:latin typeface="Segoe UI"/>
              </a:rPr>
              <a:t>De la interpolacion a la Super-Resolucion  •  The Machine Learning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69748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2296" cy="2834640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9808" y="1755648"/>
            <a:ext cx="502920" cy="292608"/>
          </a:xfrm>
          <a:prstGeom prst="roundRect">
            <a:avLst>
              <a:gd name="adj" fmla="val 8000"/>
            </a:avLst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57984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Nearest-Neighbor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22951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334055"/>
                </a:solidFill>
                <a:latin typeface="Segoe UI"/>
              </a:rPr>
              <a:t>Pixel mas cercano. Nucleo box.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639311"/>
            <a:ext cx="2295144" cy="1270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49808" y="3749040"/>
            <a:ext cx="2295144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1">
                <a:solidFill>
                  <a:srgbClr val="64748B"/>
                </a:solidFill>
                <a:latin typeface="Segoe UI"/>
              </a:rPr>
              <a:t>O(1)/pixel; bordes duros pero efecto de bloques (aliasing).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4136" y="1554480"/>
            <a:ext cx="269748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74136" y="1554480"/>
            <a:ext cx="82296" cy="2834640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575304" y="1755648"/>
            <a:ext cx="502920" cy="292608"/>
          </a:xfrm>
          <a:prstGeom prst="roundRect">
            <a:avLst>
              <a:gd name="adj" fmla="val 8000"/>
            </a:avLst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2157984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Bilineal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75304" y="2651760"/>
            <a:ext cx="22951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334055"/>
                </a:solidFill>
                <a:latin typeface="Segoe UI"/>
              </a:rPr>
              <a:t>Media de los 4 vecinos. Nucleo tent.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75304" y="3639311"/>
            <a:ext cx="2295144" cy="1270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75304" y="3749040"/>
            <a:ext cx="2295144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1">
                <a:solidFill>
                  <a:srgbClr val="64748B"/>
                </a:solidFill>
                <a:latin typeface="Segoe UI"/>
              </a:rPr>
              <a:t>Suaviza; atenua altas frecuencias → emborrona.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554480"/>
            <a:ext cx="269748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1554480"/>
            <a:ext cx="82296" cy="283464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00800" y="1755648"/>
            <a:ext cx="502920" cy="292608"/>
          </a:xfrm>
          <a:prstGeom prst="roundRect">
            <a:avLst>
              <a:gd name="adj" fmla="val 8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157984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Bicubica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651760"/>
            <a:ext cx="22951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334055"/>
                </a:solidFill>
                <a:latin typeface="Segoe UI"/>
              </a:rPr>
              <a:t>Vecindario 4x4 (16 px), polinomio cubico (Keys, a=-0.5).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3639311"/>
            <a:ext cx="2295144" cy="1270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3749040"/>
            <a:ext cx="2295144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1">
                <a:solidFill>
                  <a:srgbClr val="64748B"/>
                </a:solidFill>
                <a:latin typeface="Segoe UI"/>
              </a:rPr>
              <a:t>Estandar de facto en fotografia.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5128" y="1554480"/>
            <a:ext cx="2697480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25128" y="1554480"/>
            <a:ext cx="82296" cy="2834640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226296" y="1755648"/>
            <a:ext cx="502920" cy="292608"/>
          </a:xfrm>
          <a:prstGeom prst="roundRect">
            <a:avLst>
              <a:gd name="adj" fmla="val 8000"/>
            </a:avLst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6296" y="2157984"/>
            <a:ext cx="2331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F172A"/>
                </a:solidFill>
                <a:latin typeface="Segoe UI"/>
              </a:rPr>
              <a:t>Lanczos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6296" y="2651760"/>
            <a:ext cx="22951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334055"/>
                </a:solidFill>
                <a:latin typeface="Segoe UI"/>
              </a:rPr>
              <a:t>sinc enventanada (a=2/3). Reconstructor ideal (Nyquist).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26296" y="3639311"/>
            <a:ext cx="2295144" cy="1270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26296" y="3749040"/>
            <a:ext cx="2295144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1">
                <a:solidFill>
                  <a:srgbClr val="64748B"/>
                </a:solidFill>
                <a:latin typeface="Segoe UI"/>
              </a:rPr>
              <a:t>Bordes mas nitidos; posibles halos (ringing) y mas coste.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572000"/>
            <a:ext cx="11091672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48640" y="4572000"/>
            <a:ext cx="82296" cy="1417320"/>
          </a:xfrm>
          <a:prstGeom prst="rect">
            <a:avLst/>
          </a:prstGeom>
          <a:solidFill>
            <a:srgbClr val="E04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77240" y="470916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04F5F"/>
                </a:solidFill>
                <a:latin typeface="Segoe UI"/>
              </a:rPr>
              <a:t>El techo comun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074920"/>
            <a:ext cx="566928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Todos son </a:t>
            </a:r>
            <a:r>
              <a:rPr sz="1250" b="1" i="0">
                <a:solidFill>
                  <a:srgbClr val="0F172A"/>
                </a:solidFill>
                <a:latin typeface="Segoe UI"/>
              </a:rPr>
              <a:t>filtros lineales con nucleo fijo</a:t>
            </a:r>
            <a:r>
              <a:rPr sz="1250" b="0" i="0">
                <a:solidFill>
                  <a:srgbClr val="0F172A"/>
                </a:solidFill>
                <a:latin typeface="Segoe UI"/>
              </a:rPr>
              <a:t>. El nucleo no depende del contenido → </a:t>
            </a:r>
            <a:r>
              <a:rPr sz="1250" b="1" i="0">
                <a:solidFill>
                  <a:srgbClr val="E04F5F"/>
                </a:solidFill>
                <a:latin typeface="Segoe UI"/>
              </a:rPr>
              <a:t>no anaden frecuencias nuevas</a:t>
            </a:r>
            <a:r>
              <a:rPr sz="1250" b="0" i="0">
                <a:solidFill>
                  <a:srgbClr val="0F172A"/>
                </a:solidFill>
                <a:latin typeface="Segoe UI"/>
              </a:rPr>
              <a:t>, solo redistribuyen. El detalle perdido no se recupera.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0" y="4892040"/>
            <a:ext cx="4709160" cy="8686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75120" y="4892040"/>
            <a:ext cx="47091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22A4A"/>
                </a:solidFill>
                <a:latin typeface="Consolas"/>
              </a:rPr>
              <a:t>I_HR(x,y) = Σ  k(i,j) · I_LR(xᵢ, yⱼ)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4748B"/>
                </a:solidFill>
                <a:latin typeface="Segoe UI"/>
              </a:rPr>
              <a:t>k fijo  →  combinacion lineal de la entrada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6CDF"/>
                </a:solidFill>
                <a:latin typeface="Segoe UI"/>
              </a:rPr>
              <a:t>03 — FORMULACION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F172A"/>
                </a:solidFill>
                <a:latin typeface="Segoe UI Light"/>
              </a:rPr>
              <a:t>SISR y el modelo de degradacion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4748B"/>
                </a:solidFill>
                <a:latin typeface="Segoe UI"/>
              </a:rPr>
              <a:t>De la interpolacion a la Super-Resolucion  •  The Machine Learning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3949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82296" cy="196596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63677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La funcion que se aprende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011680"/>
            <a:ext cx="4937760" cy="6400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2011680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22A4A"/>
                </a:solidFill>
                <a:latin typeface="Consolas"/>
              </a:rPr>
              <a:t>Î_HR = F(I_LR ; θ)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61488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0F172A"/>
                </a:solidFill>
                <a:latin typeface="Consolas"/>
              </a:rPr>
              <a:t>θ* = argmin  (1/N) Σ  L( F(LR;θ), HR 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4748B"/>
                </a:solidFill>
                <a:latin typeface="Segoe UI"/>
              </a:rPr>
              <a:t>Se minimiza una perdida sobre pares (LR, HR).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611880"/>
            <a:ext cx="539496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611880"/>
            <a:ext cx="82296" cy="237744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9808" y="3739896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¿De donde salen los pares?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114800"/>
            <a:ext cx="498348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F2A63B"/>
                </a:solidFill>
                <a:latin typeface="Segoe UI"/>
              </a:rPr>
              <a:t>– </a:t>
            </a:r>
            <a:r>
              <a:rPr sz="1250" b="1" i="0">
                <a:solidFill>
                  <a:srgbClr val="0F172A"/>
                </a:solidFill>
                <a:latin typeface="Segoe UI"/>
              </a:rPr>
              <a:t>Casi nunca </a:t>
            </a:r>
            <a:r>
              <a:rPr sz="1250" b="0" i="0">
                <a:solidFill>
                  <a:srgbClr val="0F172A"/>
                </a:solidFill>
                <a:latin typeface="Segoe UI"/>
              </a:rPr>
              <a:t>hay fotos reales del mismo objeto a dos resoluciones alineadas.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F2A63B"/>
                </a:solidFill>
                <a:latin typeface="Segoe UI"/>
              </a:rPr>
              <a:t>– </a:t>
            </a:r>
            <a:r>
              <a:rPr sz="1250" b="1" i="0">
                <a:solidFill>
                  <a:srgbClr val="0F172A"/>
                </a:solidFill>
                <a:latin typeface="Segoe UI"/>
              </a:rPr>
              <a:t>Solucion: </a:t>
            </a:r>
            <a:r>
              <a:rPr sz="1250" b="0" i="0">
                <a:solidFill>
                  <a:srgbClr val="0F172A"/>
                </a:solidFill>
                <a:latin typeface="Segoe UI"/>
              </a:rPr>
              <a:t>partir de HR buenas y degradarlas de forma controlada.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F2A63B"/>
                </a:solidFill>
                <a:latin typeface="Segoe UI"/>
              </a:rPr>
              <a:t>– </a:t>
            </a:r>
            <a:r>
              <a:rPr sz="1250" b="1" i="0">
                <a:solidFill>
                  <a:srgbClr val="0F172A"/>
                </a:solidFill>
                <a:latin typeface="Segoe UI"/>
              </a:rPr>
              <a:t>El modelo solo </a:t>
            </a:r>
            <a:r>
              <a:rPr sz="1250" b="0" i="0">
                <a:solidFill>
                  <a:srgbClr val="0F172A"/>
                </a:solidFill>
                <a:latin typeface="Segoe UI"/>
              </a:rPr>
              <a:t>sabe deshacer las degradaciones que vio en entrenamiento.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508760"/>
            <a:ext cx="5513832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26480" y="1508760"/>
            <a:ext cx="82296" cy="4480560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27648" y="1636776"/>
            <a:ext cx="51480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Degradation pipeline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96596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Modelo clasico (bicubic degradation)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286000"/>
            <a:ext cx="5074920" cy="502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55080" y="2286000"/>
            <a:ext cx="5074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22A4A"/>
                </a:solidFill>
                <a:latin typeface="Consolas"/>
              </a:rPr>
              <a:t>I_LR = (I_HR * k) ↓s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92608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Modelo realista (BSRGAN / Real-ESRGAN)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3246120"/>
            <a:ext cx="5074920" cy="502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55080" y="3246120"/>
            <a:ext cx="507492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22A4A"/>
                </a:solidFill>
                <a:latin typeface="Consolas"/>
              </a:rPr>
              <a:t>I_LR = [ (I_HR * k)↓s + n ]_JPEG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5080" y="3977639"/>
            <a:ext cx="1188720" cy="384048"/>
          </a:xfrm>
          <a:prstGeom prst="roundRect">
            <a:avLst>
              <a:gd name="adj" fmla="val 8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Blur (k)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25512" y="3977639"/>
            <a:ext cx="14630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64748B"/>
                </a:solidFill>
                <a:latin typeface="Segoe UI"/>
              </a:rP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53528" y="3977639"/>
            <a:ext cx="1188720" cy="384048"/>
          </a:xfrm>
          <a:prstGeom prst="roundRect">
            <a:avLst>
              <a:gd name="adj" fmla="val 8000"/>
            </a:avLst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Downsample ↓s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3960" y="3977639"/>
            <a:ext cx="14630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64748B"/>
                </a:solidFill>
                <a:latin typeface="Segoe UI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51976" y="3977639"/>
            <a:ext cx="1188720" cy="384048"/>
          </a:xfrm>
          <a:prstGeom prst="roundRect">
            <a:avLst>
              <a:gd name="adj" fmla="val 8000"/>
            </a:avLst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Ruido 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3977639"/>
            <a:ext cx="14630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64748B"/>
                </a:solidFill>
                <a:latin typeface="Segoe UI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50424" y="3977639"/>
            <a:ext cx="1188720" cy="384048"/>
          </a:xfrm>
          <a:prstGeom prst="roundRect">
            <a:avLst>
              <a:gd name="adj" fmla="val 8000"/>
            </a:avLst>
          </a:prstGeom>
          <a:solidFill>
            <a:srgbClr val="E04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Segoe UI"/>
              </a:rPr>
              <a:t>JPEG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526280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0E9E8A"/>
                </a:solidFill>
                <a:latin typeface="Segoe UI"/>
              </a:rPr>
              <a:t>High-order degradation: </a:t>
            </a:r>
            <a:r>
              <a:rPr sz="1150" b="0" i="0">
                <a:solidFill>
                  <a:srgbClr val="0F172A"/>
                </a:solidFill>
                <a:latin typeface="Segoe UI"/>
              </a:rPr>
              <a:t>la cadena se aplica varias veces para imitar fotos reales (capturas, escaneos, video recomprimido).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1">
                <a:solidFill>
                  <a:srgbClr val="64748B"/>
                </a:solidFill>
                <a:latin typeface="Segoe UI"/>
              </a:rPr>
              <a:t>En el notebook, </a:t>
            </a:r>
            <a:r>
              <a:rPr sz="1150" b="1" i="0">
                <a:solidFill>
                  <a:srgbClr val="122A4A"/>
                </a:solidFill>
                <a:latin typeface="Consolas"/>
              </a:rPr>
              <a:t>degrade() </a:t>
            </a:r>
            <a:r>
              <a:rPr sz="1150" b="0" i="1">
                <a:solidFill>
                  <a:srgbClr val="64748B"/>
                </a:solidFill>
                <a:latin typeface="Segoe UI"/>
              </a:rPr>
              <a:t>achica + reamplia con bicubica para ilustrar el concepto.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6CDF"/>
                </a:solidFill>
                <a:latin typeface="Segoe UI"/>
              </a:rPr>
              <a:t>04 — DE EJEMPLOS A RAISR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F172A"/>
                </a:solidFill>
                <a:latin typeface="Segoe UI Light"/>
              </a:rPr>
              <a:t>La 'tabla de vecindarios' y su muro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4748B"/>
                </a:solidFill>
                <a:latin typeface="Segoe UI"/>
              </a:rPr>
              <a:t>De la interpolacion a la Super-Resolucion  •  The Machine Learning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486400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82296" cy="448056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67335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3B"/>
                </a:solidFill>
                <a:latin typeface="Segoe UI"/>
              </a:rPr>
              <a:t>Example-based SR (Freeman, 2002)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48840"/>
            <a:ext cx="50292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F2A63B"/>
                </a:solidFill>
                <a:latin typeface="Segoe UI"/>
              </a:rPr>
              <a:t>– </a:t>
            </a:r>
            <a:r>
              <a:rPr sz="1250" b="1" i="0">
                <a:solidFill>
                  <a:srgbClr val="0F172A"/>
                </a:solidFill>
                <a:latin typeface="Segoe UI"/>
              </a:rPr>
              <a:t>Diccionario de parches </a:t>
            </a:r>
            <a:r>
              <a:rPr sz="1250" b="0" i="0">
                <a:solidFill>
                  <a:srgbClr val="0F172A"/>
                </a:solidFill>
                <a:latin typeface="Segoe UI"/>
              </a:rPr>
              <a:t>LR↔HR: por cada parche LR se busca el mas parecido y se pega su HR.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F2A63B"/>
                </a:solidFill>
                <a:latin typeface="Segoe UI"/>
              </a:rPr>
              <a:t>– </a:t>
            </a:r>
            <a:r>
              <a:rPr sz="1250" b="1" i="0">
                <a:solidFill>
                  <a:srgbClr val="0F172A"/>
                </a:solidFill>
                <a:latin typeface="Segoe UI"/>
              </a:rPr>
              <a:t>Lento </a:t>
            </a:r>
            <a:r>
              <a:rPr sz="1250" b="0" i="0">
                <a:solidFill>
                  <a:srgbClr val="0F172A"/>
                </a:solidFill>
                <a:latin typeface="Segoe UI"/>
              </a:rPr>
              <a:t>y con base de datos enorme.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29000"/>
            <a:ext cx="5029200" cy="12700"/>
          </a:xfrm>
          <a:prstGeom prst="rect">
            <a:avLst/>
          </a:prstGeom>
          <a:solidFill>
            <a:srgbClr val="D8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566160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04F5F"/>
                </a:solidFill>
                <a:latin typeface="Segoe UI"/>
              </a:rPr>
              <a:t>La maldicion de la dimensionalidad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77639"/>
            <a:ext cx="301752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977639"/>
            <a:ext cx="28346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F172A"/>
                </a:solidFill>
                <a:latin typeface="Segoe UI"/>
              </a:rPr>
              <a:t>8 vecinos (1 fila)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3977639"/>
            <a:ext cx="1965960" cy="384048"/>
          </a:xfrm>
          <a:prstGeom prst="rect">
            <a:avLst/>
          </a:prstGeom>
          <a:solidFill>
            <a:srgbClr val="FBECEC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840480" y="3977639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04F5F"/>
                </a:solidFill>
                <a:latin typeface="Consolas"/>
              </a:rPr>
              <a:t>256⁸ ≈ 1.8×10¹⁹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434839"/>
            <a:ext cx="301752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39"/>
            <a:ext cx="28346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F172A"/>
                </a:solidFill>
                <a:latin typeface="Segoe UI"/>
              </a:rPr>
              <a:t>24 vecinos (2 filas)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4434839"/>
            <a:ext cx="1965960" cy="384048"/>
          </a:xfrm>
          <a:prstGeom prst="rect">
            <a:avLst/>
          </a:prstGeom>
          <a:solidFill>
            <a:srgbClr val="FBECEC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840480" y="4434839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04F5F"/>
                </a:solidFill>
                <a:latin typeface="Consolas"/>
              </a:rPr>
              <a:t>256²⁴ ≈ 6.3×10⁵⁷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892039"/>
            <a:ext cx="3017520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" y="4892039"/>
            <a:ext cx="28346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0F172A"/>
                </a:solidFill>
                <a:latin typeface="Segoe UI"/>
              </a:rPr>
              <a:t>+ color (RGB)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0" y="4892039"/>
            <a:ext cx="1965960" cy="384048"/>
          </a:xfrm>
          <a:prstGeom prst="rect">
            <a:avLst/>
          </a:prstGeom>
          <a:solidFill>
            <a:srgbClr val="FBECEC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840480" y="4892039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E04F5F"/>
                </a:solidFill>
                <a:latin typeface="Consolas"/>
              </a:rPr>
              <a:t>astronomico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5074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4748B"/>
                </a:solidFill>
                <a:latin typeface="Segoe UI"/>
              </a:rPr>
              <a:t>La tabla nunca se llena → queda </a:t>
            </a:r>
            <a:r>
              <a:rPr sz="1150" b="1" i="1">
                <a:solidFill>
                  <a:srgbClr val="E04F5F"/>
                </a:solidFill>
                <a:latin typeface="Segoe UI"/>
              </a:rPr>
              <a:t>vacia justo donde la consultas.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1508760"/>
            <a:ext cx="5468112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172200" y="1508760"/>
            <a:ext cx="82296" cy="4480560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0" y="1673352"/>
            <a:ext cx="5029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E9E8A"/>
                </a:solidFill>
                <a:latin typeface="Segoe UI"/>
              </a:rPr>
              <a:t>RAISR (Google, 2016) — la idea 'apanada'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148840"/>
            <a:ext cx="50292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0E9E8A"/>
                </a:solidFill>
                <a:latin typeface="Segoe UI"/>
              </a:rPr>
              <a:t>– </a:t>
            </a:r>
            <a:r>
              <a:rPr sz="1200" b="1" i="0">
                <a:solidFill>
                  <a:srgbClr val="0F172A"/>
                </a:solidFill>
                <a:latin typeface="Segoe UI"/>
              </a:rPr>
              <a:t>No guarda todos los colores. </a:t>
            </a:r>
            <a:r>
              <a:rPr sz="1200" b="0" i="0">
                <a:solidFill>
                  <a:srgbClr val="0F172A"/>
                </a:solidFill>
                <a:latin typeface="Segoe UI"/>
              </a:rPr>
              <a:t>Clasifica cada parche en pocos cubos (buckets).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0E9E8A"/>
                </a:solidFill>
                <a:latin typeface="Segoe UI"/>
              </a:rPr>
              <a:t>– </a:t>
            </a:r>
            <a:r>
              <a:rPr sz="1200" b="1" i="0">
                <a:solidFill>
                  <a:srgbClr val="0F172A"/>
                </a:solidFill>
                <a:latin typeface="Segoe UI"/>
              </a:rPr>
              <a:t>Segun el gradiente local: </a:t>
            </a:r>
            <a:r>
              <a:rPr sz="1200" b="0" i="0">
                <a:solidFill>
                  <a:srgbClr val="0F172A"/>
                </a:solidFill>
                <a:latin typeface="Segoe UI"/>
              </a:rPr>
              <a:t>angulo, fuerza y coherencia.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0E9E8A"/>
                </a:solidFill>
                <a:latin typeface="Segoe UI"/>
              </a:rPr>
              <a:t>– </a:t>
            </a:r>
            <a:r>
              <a:rPr sz="1200" b="1" i="0">
                <a:solidFill>
                  <a:srgbClr val="0F172A"/>
                </a:solidFill>
                <a:latin typeface="Segoe UI"/>
              </a:rPr>
              <a:t>Por cada cubo </a:t>
            </a:r>
            <a:r>
              <a:rPr sz="1200" b="0" i="0">
                <a:solidFill>
                  <a:srgbClr val="0F172A"/>
                </a:solidFill>
                <a:latin typeface="Segoe UI"/>
              </a:rPr>
              <a:t>aprende un filtro lineal optimo (minimos cuadrados).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0E9E8A"/>
                </a:solidFill>
                <a:latin typeface="Segoe UI"/>
              </a:rPr>
              <a:t>– </a:t>
            </a:r>
            <a:r>
              <a:rPr sz="1200" b="1" i="0">
                <a:solidFill>
                  <a:srgbClr val="0F172A"/>
                </a:solidFill>
                <a:latin typeface="Segoe UI"/>
              </a:rPr>
              <a:t>Inferencia: </a:t>
            </a:r>
            <a:r>
              <a:rPr sz="1200" b="0" i="0">
                <a:solidFill>
                  <a:srgbClr val="0F172A"/>
                </a:solidFill>
                <a:latin typeface="Segoe UI"/>
              </a:rPr>
              <a:t>gradiente → cubo → aplica su filtro. Calidad ~CNN de su epoca, ordenes de magnitud mas rapido.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4709160"/>
            <a:ext cx="5029200" cy="1143000"/>
          </a:xfrm>
          <a:prstGeom prst="roundRect">
            <a:avLst>
              <a:gd name="adj" fmla="val 8000"/>
            </a:avLst>
          </a:prstGeom>
          <a:solidFill>
            <a:srgbClr val="EAF6F3"/>
          </a:solidFill>
          <a:ln w="12700">
            <a:solidFill>
              <a:srgbClr val="B9E0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83680" y="4828032"/>
            <a:ext cx="466344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E9E8A"/>
                </a:solidFill>
                <a:latin typeface="Segoe UI"/>
              </a:rPr>
              <a:t>En el notebook: </a:t>
            </a:r>
            <a:r>
              <a:rPr sz="1150" b="1" i="0">
                <a:solidFill>
                  <a:srgbClr val="0F172A"/>
                </a:solidFill>
                <a:latin typeface="Segoe UI"/>
              </a:rPr>
              <a:t>un RAISR de juguete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A5049"/>
                </a:solidFill>
                <a:latin typeface="Segoe UI"/>
              </a:rPr>
              <a:t>Cuantiza el vecindario 3x3 en Q niveles y aprende el color medio por caja. Muestra por que la cuantizacion (agrupar en pocas cajas) hace la idea viable.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6CDF"/>
                </a:solidFill>
                <a:latin typeface="Segoe UI"/>
              </a:rPr>
              <a:t>05 — REDES CONVOLUCIONALES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F172A"/>
                </a:solidFill>
                <a:latin typeface="Segoe UI Light"/>
              </a:rPr>
              <a:t>La CNN generaliza: no guarda una tabla, guarda una funcion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4748B"/>
                </a:solidFill>
                <a:latin typeface="Segoe UI"/>
              </a:rPr>
              <a:t>De la interpolacion a la Super-Resolucion  •  The Machine Learning Engineer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1280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4748B"/>
                </a:solidFill>
                <a:latin typeface="Segoe UI"/>
              </a:rPr>
              <a:t>Modelo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554480"/>
            <a:ext cx="731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4748B"/>
                </a:solidFill>
                <a:latin typeface="Segoe UI"/>
              </a:rPr>
              <a:t>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554480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4748B"/>
                </a:solidFill>
                <a:latin typeface="Segoe UI"/>
              </a:rPr>
              <a:t>Aportacion principal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6949440" cy="56692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2011680"/>
            <a:ext cx="73152" cy="566928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011680"/>
            <a:ext cx="1280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SRCNN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011680"/>
            <a:ext cx="731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D6CDF"/>
                </a:solidFill>
                <a:latin typeface="Segoe UI"/>
              </a:rPr>
              <a:t>2014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011680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 i="0">
                <a:solidFill>
                  <a:srgbClr val="334055"/>
                </a:solidFill>
                <a:latin typeface="Segoe UI"/>
              </a:rPr>
              <a:t>Primera CNN para SR (3 capas). Supera a la interpolacion.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651760"/>
            <a:ext cx="6949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2651760"/>
            <a:ext cx="73152" cy="56692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2651760"/>
            <a:ext cx="1280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FSRCNN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2651760"/>
            <a:ext cx="731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B8CF"/>
                </a:solidFill>
                <a:latin typeface="Segoe UI"/>
              </a:rPr>
              <a:t>2016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2651760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 i="0">
                <a:solidFill>
                  <a:srgbClr val="334055"/>
                </a:solidFill>
                <a:latin typeface="Segoe UI"/>
              </a:rPr>
              <a:t>Procesa en LR y amplia al final → mucho mas rapido.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3291840"/>
            <a:ext cx="73152" cy="566928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1280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ESPCN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3291840"/>
            <a:ext cx="731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E9E8A"/>
                </a:solidFill>
                <a:latin typeface="Segoe UI"/>
              </a:rPr>
              <a:t>2016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3291840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 i="0">
                <a:solidFill>
                  <a:srgbClr val="334055"/>
                </a:solidFill>
                <a:latin typeface="Segoe UI"/>
              </a:rPr>
              <a:t>Sub-pixel conv / pixel shuffle: aprende s² mapas y reordena. Estandar hoy.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931920"/>
            <a:ext cx="6949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48640" y="3931920"/>
            <a:ext cx="73152" cy="566928"/>
          </a:xfrm>
          <a:prstGeom prst="rect">
            <a:avLst/>
          </a:prstGeom>
          <a:solidFill>
            <a:srgbClr val="7A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3931920"/>
            <a:ext cx="1280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VDSR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5960" y="3931920"/>
            <a:ext cx="731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7A5CE0"/>
                </a:solidFill>
                <a:latin typeface="Segoe UI"/>
              </a:rPr>
              <a:t>2016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3931920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 i="0">
                <a:solidFill>
                  <a:srgbClr val="334055"/>
                </a:solidFill>
                <a:latin typeface="Segoe UI"/>
              </a:rPr>
              <a:t>20 capas + aprendizaje residual (predice solo el detalle que falta).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72000"/>
            <a:ext cx="6949440" cy="566928"/>
          </a:xfrm>
          <a:prstGeom prst="rect">
            <a:avLst/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8640" y="4572000"/>
            <a:ext cx="73152" cy="566928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31520" y="4572000"/>
            <a:ext cx="1280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EDSR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65960" y="4572000"/>
            <a:ext cx="731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3B"/>
                </a:solidFill>
                <a:latin typeface="Segoe UI"/>
              </a:rPr>
              <a:t>2017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4572000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 i="0">
                <a:solidFill>
                  <a:srgbClr val="334055"/>
                </a:solidFill>
                <a:latin typeface="Segoe UI"/>
              </a:rPr>
              <a:t>Bloques residuales sin BatchNorm. Ganador NTIRE, gran PSNR.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212080"/>
            <a:ext cx="6949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48640" y="5212080"/>
            <a:ext cx="73152" cy="566928"/>
          </a:xfrm>
          <a:prstGeom prst="rect">
            <a:avLst/>
          </a:prstGeom>
          <a:solidFill>
            <a:srgbClr val="E04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1520" y="5212080"/>
            <a:ext cx="12801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172A"/>
                </a:solidFill>
                <a:latin typeface="Segoe UI"/>
              </a:rPr>
              <a:t>RCAN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5212080"/>
            <a:ext cx="7315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04F5F"/>
                </a:solidFill>
                <a:latin typeface="Segoe UI"/>
              </a:rPr>
              <a:t>2018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5212080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 i="0">
                <a:solidFill>
                  <a:srgbClr val="334055"/>
                </a:solidFill>
                <a:latin typeface="Segoe UI"/>
              </a:rPr>
              <a:t>Atencion de canal + redes muy profundas (400+ capas).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26679" y="1554480"/>
            <a:ext cx="3913632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7726679" y="1554480"/>
            <a:ext cx="82296" cy="443484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927847" y="1682496"/>
            <a:ext cx="354787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Funciones de perdida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955279" y="2057400"/>
            <a:ext cx="3474720" cy="548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955279" y="2057400"/>
            <a:ext cx="34747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22A4A"/>
                </a:solidFill>
                <a:latin typeface="Consolas"/>
              </a:rPr>
              <a:t>L₁ = ‖ HR − ÈR ‖₁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55279" y="2697480"/>
            <a:ext cx="3474720" cy="548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955279" y="2697480"/>
            <a:ext cx="347472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22A4A"/>
                </a:solidFill>
                <a:latin typeface="Consolas"/>
              </a:rPr>
              <a:t>L₂ = ‖ HR − ÈR ‖²₂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3474720"/>
            <a:ext cx="35204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Error pixel a pixel.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 i="0">
                <a:solidFill>
                  <a:srgbClr val="0F172A"/>
                </a:solidFill>
                <a:latin typeface="Segoe UI"/>
              </a:rPr>
              <a:t>Maximizan PSNR pero dan imagenes </a:t>
            </a:r>
            <a:r>
              <a:rPr sz="1200" b="1" i="0">
                <a:solidFill>
                  <a:srgbClr val="E04F5F"/>
                </a:solidFill>
                <a:latin typeface="Segoe UI"/>
              </a:rPr>
              <a:t>suaves</a:t>
            </a:r>
            <a:r>
              <a:rPr sz="1200" b="0" i="0">
                <a:solidFill>
                  <a:srgbClr val="0F172A"/>
                </a:solidFill>
                <a:latin typeface="Segoe UI"/>
              </a:rPr>
              <a:t>: la media de todas las HR plausibles es borrosa.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 i="1">
                <a:solidFill>
                  <a:srgbClr val="0E9E8A"/>
                </a:solidFill>
                <a:latin typeface="Segoe UI"/>
              </a:rPr>
              <a:t>→ Resolverlo lleva al salto perceptual (GAN).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6CDF"/>
                </a:solidFill>
                <a:latin typeface="Segoe UI"/>
              </a:rPr>
              <a:t>06 — EL SALTO PERCEPTUAL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F172A"/>
                </a:solidFill>
                <a:latin typeface="Segoe UI Light"/>
              </a:rPr>
              <a:t>GANs: texturas que 'parecen' reales, no optimas en PSNR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4748B"/>
                </a:solidFill>
                <a:latin typeface="Segoe UI"/>
              </a:rPr>
              <a:t>De la interpolacion a la Super-Resolucion  •  The Machine Learning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2296" cy="32004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49808" y="1755648"/>
            <a:ext cx="960120" cy="329184"/>
          </a:xfrm>
          <a:prstGeom prst="roundRect">
            <a:avLst>
              <a:gd name="adj" fmla="val 8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2017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7373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SRGAN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31720"/>
            <a:ext cx="3191256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150" b="0" i="0">
                <a:solidFill>
                  <a:srgbClr val="0F172A"/>
                </a:solidFill>
                <a:latin typeface="Segoe UI"/>
              </a:rPr>
              <a:t>Perdida perceptual: compara features de VGG, no pixeles.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150" b="0" i="0">
                <a:solidFill>
                  <a:srgbClr val="0F172A"/>
                </a:solidFill>
                <a:latin typeface="Segoe UI"/>
              </a:rPr>
              <a:t>Perdida adversaria: un discriminador D distingue HR real de generada; G aprende a enganarlo.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554480"/>
            <a:ext cx="36118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88536" y="1554480"/>
            <a:ext cx="82296" cy="3200400"/>
          </a:xfrm>
          <a:prstGeom prst="rect">
            <a:avLst/>
          </a:prstGeom>
          <a:solidFill>
            <a:srgbClr val="7A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489704" y="1755648"/>
            <a:ext cx="960120" cy="329184"/>
          </a:xfrm>
          <a:prstGeom prst="roundRect">
            <a:avLst>
              <a:gd name="adj" fmla="val 8000"/>
            </a:avLst>
          </a:prstGeom>
          <a:solidFill>
            <a:srgbClr val="7A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2018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8696" y="17373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ESRGAN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2331720"/>
            <a:ext cx="3191256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7A5CE0"/>
                </a:solidFill>
                <a:latin typeface="Segoe UI"/>
              </a:rPr>
              <a:t>– </a:t>
            </a:r>
            <a:r>
              <a:rPr sz="1150" b="0" i="0">
                <a:solidFill>
                  <a:srgbClr val="0F172A"/>
                </a:solidFill>
                <a:latin typeface="Segoe UI"/>
              </a:rPr>
              <a:t>Bloques RRDB (Residual-in-Residual Dense) sin BatchNorm.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7A5CE0"/>
                </a:solidFill>
                <a:latin typeface="Segoe UI"/>
              </a:rPr>
              <a:t>– </a:t>
            </a:r>
            <a:r>
              <a:rPr sz="1150" b="0" i="0">
                <a:solidFill>
                  <a:srgbClr val="0F172A"/>
                </a:solidFill>
                <a:latin typeface="Segoe UI"/>
              </a:rPr>
              <a:t>Discriminador relativista + perdida sobre features pre-activacion.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7A5CE0"/>
                </a:solidFill>
                <a:latin typeface="Segoe UI"/>
              </a:rPr>
              <a:t>– </a:t>
            </a:r>
            <a:r>
              <a:rPr sz="1150" b="0" i="0">
                <a:solidFill>
                  <a:srgbClr val="0F172A"/>
                </a:solidFill>
                <a:latin typeface="Segoe UI"/>
              </a:rPr>
              <a:t>Texturas notablemente mas realistas.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1554480"/>
            <a:ext cx="361188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28432" y="1554480"/>
            <a:ext cx="82296" cy="3200400"/>
          </a:xfrm>
          <a:prstGeom prst="rect">
            <a:avLst/>
          </a:prstGeom>
          <a:solidFill>
            <a:srgbClr val="E04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229600" y="1755648"/>
            <a:ext cx="960120" cy="329184"/>
          </a:xfrm>
          <a:prstGeom prst="roundRect">
            <a:avLst>
              <a:gd name="adj" fmla="val 8000"/>
            </a:avLst>
          </a:prstGeom>
          <a:solidFill>
            <a:srgbClr val="E04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2021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8592" y="1737360"/>
            <a:ext cx="224028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F172A"/>
                </a:solidFill>
                <a:latin typeface="Segoe UI"/>
              </a:rPr>
              <a:t>Real-ESRGAN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2331720"/>
            <a:ext cx="3191256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04F5F"/>
                </a:solidFill>
                <a:latin typeface="Segoe UI"/>
              </a:rPr>
              <a:t>– </a:t>
            </a:r>
            <a:r>
              <a:rPr sz="1150" b="0" i="0">
                <a:solidFill>
                  <a:srgbClr val="0F172A"/>
                </a:solidFill>
                <a:latin typeface="Segoe UI"/>
              </a:rPr>
              <a:t>Degradacion de alto orden: ruido + blur + JPEG en cadena.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04F5F"/>
                </a:solidFill>
                <a:latin typeface="Segoe UI"/>
              </a:rPr>
              <a:t>– </a:t>
            </a:r>
            <a:r>
              <a:rPr sz="1150" b="0" i="0">
                <a:solidFill>
                  <a:srgbClr val="0F172A"/>
                </a:solidFill>
                <a:latin typeface="Segoe UI"/>
              </a:rPr>
              <a:t>Discriminador U-Net con spectral norm (feedback por pixel).</a:t>
            </a:r>
          </a:p>
          <a:p>
            <a:pPr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04F5F"/>
                </a:solidFill>
                <a:latin typeface="Segoe UI"/>
              </a:rPr>
              <a:t>– </a:t>
            </a:r>
            <a:r>
              <a:rPr sz="1150" b="0" i="0">
                <a:solidFill>
                  <a:srgbClr val="0F172A"/>
                </a:solidFill>
                <a:latin typeface="Segoe UI"/>
              </a:rPr>
              <a:t>Estandar practico para fotos y arte. El del notebook.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48640" y="4937760"/>
            <a:ext cx="82296" cy="1051560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77240" y="5120640"/>
            <a:ext cx="4937760" cy="658368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77240" y="5120640"/>
            <a:ext cx="49377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22A4A"/>
                </a:solidFill>
                <a:latin typeface="Consolas"/>
              </a:rPr>
              <a:t>L_G = L_perceptual  +  λ · L_adv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5138928"/>
            <a:ext cx="55778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9E8A"/>
                </a:solidFill>
                <a:latin typeface="Segoe UI"/>
              </a:rPr>
              <a:t>El discriminador </a:t>
            </a:r>
            <a:r>
              <a:rPr sz="1250" b="0" i="0">
                <a:solidFill>
                  <a:srgbClr val="0F172A"/>
                </a:solidFill>
                <a:latin typeface="Segoe UI"/>
              </a:rPr>
              <a:t>es el juez aprendido que detecta 'inventos' que no parecen reales; empuja al generador hacia texturas plausibles.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6CDF"/>
                </a:solidFill>
                <a:latin typeface="Segoe UI"/>
              </a:rPr>
              <a:t>07 — TRANSFORMERS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F172A"/>
                </a:solidFill>
                <a:latin typeface="Segoe UI Light"/>
              </a:rPr>
              <a:t>Contexto global aprendido: ViT → Swin → Swin2SR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4748B"/>
                </a:solidFill>
                <a:latin typeface="Segoe UI"/>
              </a:rPr>
              <a:t>De la interpolacion a la Super-Resolucion  •  The Machine Learning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72768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72768"/>
            <a:ext cx="82296" cy="306324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" y="1737360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F172A"/>
                </a:solidFill>
                <a:latin typeface="Segoe UI"/>
              </a:rPr>
              <a:t>ViT (2020)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231136"/>
            <a:ext cx="319125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180" b="0" i="0">
                <a:solidFill>
                  <a:srgbClr val="0F172A"/>
                </a:solidFill>
                <a:latin typeface="Segoe UI"/>
              </a:rPr>
              <a:t>Trocea en parches (tokens) + auto-atencion.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180" b="0" i="0">
                <a:solidFill>
                  <a:srgbClr val="0F172A"/>
                </a:solidFill>
                <a:latin typeface="Segoe UI"/>
              </a:rPr>
              <a:t>Cada token 'mira' a todos → contexto global / largo alcance.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180" b="0" i="0">
                <a:solidFill>
                  <a:srgbClr val="0F172A"/>
                </a:solidFill>
                <a:latin typeface="Segoe UI"/>
              </a:rPr>
              <a:t>Pero atencion global escala O(n²): inviable a resolucion completa.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2232" y="2807208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64748B"/>
                </a:solidFill>
                <a:latin typeface="Segoe U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572768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88536" y="1572768"/>
            <a:ext cx="82296" cy="3063240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07992" y="1737360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F172A"/>
                </a:solidFill>
                <a:latin typeface="Segoe UI"/>
              </a:rPr>
              <a:t>Swin Transformer (2021)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231136"/>
            <a:ext cx="319125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1" i="0">
                <a:solidFill>
                  <a:srgbClr val="0E9E8A"/>
                </a:solidFill>
                <a:latin typeface="Segoe UI"/>
              </a:rPr>
              <a:t>– </a:t>
            </a:r>
            <a:r>
              <a:rPr sz="1180" b="0" i="0">
                <a:solidFill>
                  <a:srgbClr val="0F172A"/>
                </a:solidFill>
                <a:latin typeface="Segoe UI"/>
              </a:rPr>
              <a:t>Atencion por ventanas locales (windowed).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1" i="0">
                <a:solidFill>
                  <a:srgbClr val="0E9E8A"/>
                </a:solidFill>
                <a:latin typeface="Segoe UI"/>
              </a:rPr>
              <a:t>– </a:t>
            </a:r>
            <a:r>
              <a:rPr sz="1180" b="0" i="0">
                <a:solidFill>
                  <a:srgbClr val="0F172A"/>
                </a:solidFill>
                <a:latin typeface="Segoe UI"/>
              </a:rPr>
              <a:t>Shifted windows: la info fluye entre ventanas por capas.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1" i="0">
                <a:solidFill>
                  <a:srgbClr val="0E9E8A"/>
                </a:solidFill>
                <a:latin typeface="Segoe UI"/>
              </a:rPr>
              <a:t>– </a:t>
            </a:r>
            <a:r>
              <a:rPr sz="1180" b="0" i="0">
                <a:solidFill>
                  <a:srgbClr val="0F172A"/>
                </a:solidFill>
                <a:latin typeface="Segoe UI"/>
              </a:rPr>
              <a:t>Coste lineal con los pixeles → aplicable a SR.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8" y="2807208"/>
            <a:ext cx="182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64748B"/>
                </a:solidFill>
                <a:latin typeface="Segoe U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2" y="1572768"/>
            <a:ext cx="3611880" cy="3063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28432" y="1572768"/>
            <a:ext cx="82296" cy="3063240"/>
          </a:xfrm>
          <a:prstGeom prst="rect">
            <a:avLst/>
          </a:prstGeom>
          <a:solidFill>
            <a:srgbClr val="7A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47888" y="1737360"/>
            <a:ext cx="32461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0F172A"/>
                </a:solidFill>
                <a:latin typeface="Segoe UI"/>
              </a:rPr>
              <a:t>SwinIR / Swin2SR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231136"/>
            <a:ext cx="3191256" cy="2240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1" i="0">
                <a:solidFill>
                  <a:srgbClr val="7A5CE0"/>
                </a:solidFill>
                <a:latin typeface="Segoe UI"/>
              </a:rPr>
              <a:t>– </a:t>
            </a:r>
            <a:r>
              <a:rPr sz="1180" b="0" i="0">
                <a:solidFill>
                  <a:srgbClr val="0F172A"/>
                </a:solidFill>
                <a:latin typeface="Segoe UI"/>
              </a:rPr>
              <a:t>SwinIR: SOTA en SR/denoising con menos parametros que CNN.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1" i="0">
                <a:solidFill>
                  <a:srgbClr val="7A5CE0"/>
                </a:solidFill>
                <a:latin typeface="Segoe UI"/>
              </a:rPr>
              <a:t>– </a:t>
            </a:r>
            <a:r>
              <a:rPr sz="1180" b="0" i="0">
                <a:solidFill>
                  <a:srgbClr val="0F172A"/>
                </a:solidFill>
                <a:latin typeface="Segoe UI"/>
              </a:rPr>
              <a:t>Swin2SR: Swin V2 + modo compressed-input (JPEG).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80" b="1" i="0">
                <a:solidFill>
                  <a:srgbClr val="7A5CE0"/>
                </a:solidFill>
                <a:latin typeface="Segoe UI"/>
              </a:rPr>
              <a:t>– </a:t>
            </a:r>
            <a:r>
              <a:rPr sz="1180" b="0" i="0">
                <a:solidFill>
                  <a:srgbClr val="0F172A"/>
                </a:solidFill>
                <a:latin typeface="Segoe UI"/>
              </a:rPr>
              <a:t>Integrado en HuggingFace transformers.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00600"/>
            <a:ext cx="11091672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800600"/>
            <a:ext cx="82296" cy="118872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4937760"/>
            <a:ext cx="1069848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2A63B"/>
                </a:solidFill>
                <a:latin typeface="Segoe UI"/>
              </a:rPr>
              <a:t>Coste y memoria: </a:t>
            </a:r>
            <a:r>
              <a:rPr sz="1250" b="0" i="0">
                <a:solidFill>
                  <a:srgbClr val="0F172A"/>
                </a:solidFill>
                <a:latin typeface="Segoe UI"/>
              </a:rPr>
              <a:t>la atencion (aun por ventanas) consume VRAM con imagenes grandes. Recomendacion: procesar recortes o trocear (tiling).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4748B"/>
                </a:solidFill>
                <a:latin typeface="Segoe UI"/>
              </a:rPr>
              <a:t>En el notebook Swin2SR se aplica sobre un recorte de 96 px → x4, para no saturar el Transformer.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6CDF"/>
                </a:solidFill>
                <a:latin typeface="Segoe UI"/>
              </a:rPr>
              <a:t>08 — METRICAS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F172A"/>
                </a:solidFill>
                <a:latin typeface="Segoe UI Light"/>
              </a:rPr>
              <a:t>Como comparar: fidelidad vs. percepcion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4748B"/>
                </a:solidFill>
                <a:latin typeface="Segoe UI"/>
              </a:rPr>
              <a:t>De la interpolacion a la Super-Resolucion  •  The Machine Learning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69748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2296" cy="20574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171907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PSNR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121408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↑ fidelidad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542032"/>
            <a:ext cx="22951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4055"/>
                </a:solidFill>
                <a:latin typeface="Segoe UI"/>
              </a:rPr>
              <a:t>Derivada del MSE. Mas alto = mas fiel pixel a pixel. No correlaciona bien con el ojo.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2" y="1554480"/>
            <a:ext cx="269748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364992" y="1554480"/>
            <a:ext cx="82296" cy="2057400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6160" y="171907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SSIM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2121408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↑ estructura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542032"/>
            <a:ext cx="22951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4055"/>
                </a:solidFill>
                <a:latin typeface="Segoe UI"/>
              </a:rPr>
              <a:t>Luminancia, contraste y estructura local. Mas cercana a la percepcion. Rango [0,1].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554480"/>
            <a:ext cx="269748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81344" y="1554480"/>
            <a:ext cx="82296" cy="2057400"/>
          </a:xfrm>
          <a:prstGeom prst="rect">
            <a:avLst/>
          </a:prstGeom>
          <a:solidFill>
            <a:srgbClr val="7A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82512" y="171907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LPIPS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2512" y="2121408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7A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↓ perceptual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542032"/>
            <a:ext cx="22951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4055"/>
                </a:solidFill>
                <a:latin typeface="Segoe UI"/>
              </a:rPr>
              <a:t>Distancia en features de una red profunda. Mas bajo = mas parecido perceptual. Referencia hoy.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7696" y="1554480"/>
            <a:ext cx="2697480" cy="205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997696" y="1554480"/>
            <a:ext cx="82296" cy="205740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98864" y="1719072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F172A"/>
                </a:solidFill>
                <a:latin typeface="Segoe UI"/>
              </a:rPr>
              <a:t>NIQE / MANIQA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98864" y="2121408"/>
            <a:ext cx="1371600" cy="292608"/>
          </a:xfrm>
          <a:prstGeom prst="roundRect">
            <a:avLst>
              <a:gd name="adj" fmla="val 8000"/>
            </a:avLst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no-reference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8864" y="2542032"/>
            <a:ext cx="22951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334055"/>
                </a:solidFill>
                <a:latin typeface="Segoe UI"/>
              </a:rPr>
              <a:t>Sin referencia (no necesitan HR). Utiles para SR del mundo real sin ground truth.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840480"/>
            <a:ext cx="11091672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3840480"/>
            <a:ext cx="82296" cy="2148840"/>
          </a:xfrm>
          <a:prstGeom prst="rect">
            <a:avLst/>
          </a:prstGeom>
          <a:solidFill>
            <a:srgbClr val="E04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3977639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04F5F"/>
                </a:solidFill>
                <a:latin typeface="Segoe UI"/>
              </a:rPr>
              <a:t>El dilema percepcion–distorsion (Blau &amp; Michaeli, 2018)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370832"/>
            <a:ext cx="63093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F172A"/>
                </a:solidFill>
                <a:latin typeface="Segoe UI"/>
              </a:rPr>
              <a:t>Compromiso </a:t>
            </a:r>
            <a:r>
              <a:rPr sz="1250" b="1" i="0">
                <a:solidFill>
                  <a:srgbClr val="E04F5F"/>
                </a:solidFill>
                <a:latin typeface="Segoe UI"/>
              </a:rPr>
              <a:t>fundamental</a:t>
            </a:r>
            <a:r>
              <a:rPr sz="1250" b="0" i="0">
                <a:solidFill>
                  <a:srgbClr val="0F172A"/>
                </a:solidFill>
                <a:latin typeface="Segoe UI"/>
              </a:rPr>
              <a:t>: no se pueden maximizar a la vez fidelidad (PSNR/SSIM altos) y realismo perceptual (LPIPS bajo).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D6CDF"/>
                </a:solidFill>
                <a:latin typeface="Segoe UI"/>
              </a:rPr>
              <a:t>Orientados a PSNR </a:t>
            </a:r>
            <a:r>
              <a:rPr sz="1200" b="0" i="0">
                <a:solidFill>
                  <a:srgbClr val="0F172A"/>
                </a:solidFill>
                <a:latin typeface="Segoe UI"/>
              </a:rPr>
              <a:t>(EDSR, SwinIR-PSNR): fieles pero mas suaves.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A5CE0"/>
                </a:solidFill>
                <a:latin typeface="Segoe UI"/>
              </a:rPr>
              <a:t>GAN / perceptuales </a:t>
            </a:r>
            <a:r>
              <a:rPr sz="1200" b="0" i="0">
                <a:solidFill>
                  <a:srgbClr val="0F172A"/>
                </a:solidFill>
                <a:latin typeface="Segoe UI"/>
              </a:rPr>
              <a:t>(ESRGAN, Real-ESRGAN): nitidos y realistas, pueden 'inventar' detalle (peor PSNR).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0" y="4370832"/>
            <a:ext cx="4114800" cy="14630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498079" y="4480560"/>
            <a:ext cx="3749039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F172A"/>
                </a:solidFill>
                <a:latin typeface="Segoe UI"/>
              </a:rPr>
              <a:t>La eleccion depende del uso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2D6CDF"/>
                </a:solidFill>
                <a:latin typeface="Segoe UI"/>
              </a:rPr>
              <a:t>Fidelidad metrica </a:t>
            </a:r>
            <a:r>
              <a:rPr sz="1150" b="0" i="0">
                <a:solidFill>
                  <a:srgbClr val="64748B"/>
                </a:solidFill>
                <a:latin typeface="Segoe UI"/>
              </a:rPr>
              <a:t>→ medicina, forense.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7A5CE0"/>
                </a:solidFill>
                <a:latin typeface="Segoe UI"/>
              </a:rPr>
              <a:t>Estetica </a:t>
            </a:r>
            <a:r>
              <a:rPr sz="1150" b="0" i="0">
                <a:solidFill>
                  <a:srgbClr val="64748B"/>
                </a:solidFill>
                <a:latin typeface="Segoe UI"/>
              </a:rPr>
              <a:t>→ fotografia, restauracion.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6CDF"/>
                </a:solidFill>
                <a:latin typeface="Segoe UI"/>
              </a:rPr>
              <a:t>PANORAMA — MAS ALLA DE LA GUIA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F172A"/>
                </a:solidFill>
                <a:latin typeface="Segoe UI Light"/>
              </a:rPr>
              <a:t>Otras familias de Super-Resolucion con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4748B"/>
                </a:solidFill>
                <a:latin typeface="Segoe UI"/>
              </a:rPr>
              <a:t>De la interpolacion a la Super-Resolucion  •  The Machine Learning Engineer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81328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82296" cy="1783080"/>
          </a:xfrm>
          <a:prstGeom prst="rect">
            <a:avLst/>
          </a:prstGeom>
          <a:solidFill>
            <a:srgbClr val="E04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609344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Difusion (SR generativa)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56816"/>
            <a:ext cx="3108960" cy="274320"/>
          </a:xfrm>
          <a:prstGeom prst="roundRect">
            <a:avLst>
              <a:gd name="adj" fmla="val 8000"/>
            </a:avLst>
          </a:prstGeom>
          <a:solidFill>
            <a:srgbClr val="E04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SOTA en realismo · iterativa · lenta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340864"/>
            <a:ext cx="3191256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E04F5F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SR3, Stable Diffusion x4 upscaler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E04F5F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StableSR / DiffBIR / SUPIR (prior SD, texto)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E04F5F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ResShift / SinSR: difusion eficiente (1-4 pasos)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481328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88536" y="1481328"/>
            <a:ext cx="82296" cy="1783080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7992" y="1609344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Escala arbitraria (INR)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07992" y="1956816"/>
            <a:ext cx="3108960" cy="274320"/>
          </a:xfrm>
          <a:prstGeom prst="roundRect">
            <a:avLst>
              <a:gd name="adj" fmla="val 8000"/>
            </a:avLst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cualquier factor con un solo 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340864"/>
            <a:ext cx="3191256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0E9E8A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LIIF, LTE, CiaoSR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0E9E8A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Funcion continua de la imagen: (x,y) -&gt; color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0E9E8A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Amplia x2.7, x5.3... no solo x2/x4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1481328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8432" y="1481328"/>
            <a:ext cx="82296" cy="178308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47888" y="1609344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Transformers &gt; Swin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1956816"/>
            <a:ext cx="3108960" cy="274320"/>
          </a:xfrm>
          <a:prstGeom prst="roundRect">
            <a:avLst>
              <a:gd name="adj" fmla="val 8000"/>
            </a:avLst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lider actual en PSNR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2340864"/>
            <a:ext cx="3191256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HAT (hybrid attention)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IPT, SRFormer, DAT, GRL, ELAN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Mas contexto, mismo o menos coste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410712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3410712"/>
            <a:ext cx="82296" cy="1783080"/>
          </a:xfrm>
          <a:prstGeom prst="rect">
            <a:avLst/>
          </a:prstGeom>
          <a:solidFill>
            <a:srgbClr val="7A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6" y="3538728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State-space / Mamba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" y="3886200"/>
            <a:ext cx="3108960" cy="274320"/>
          </a:xfrm>
          <a:prstGeom prst="roundRect">
            <a:avLst>
              <a:gd name="adj" fmla="val 8000"/>
            </a:avLst>
          </a:prstGeom>
          <a:solidFill>
            <a:srgbClr val="7A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contexto global, coste lineal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270248"/>
            <a:ext cx="3191256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7A5CE0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MambaIR (2024)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7A5CE0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Alternativa a la atencion cuadratica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7A5CE0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Escala mejor a imagenes grandes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8536" y="3410712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88536" y="3410712"/>
            <a:ext cx="82296" cy="178308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07992" y="3538728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Zero-shot / interno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07992" y="3886200"/>
            <a:ext cx="3108960" cy="274320"/>
          </a:xfrm>
          <a:prstGeom prst="roundRect">
            <a:avLst>
              <a:gd name="adj" fmla="val 8000"/>
            </a:avLst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sin dataset externo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4270248"/>
            <a:ext cx="3191256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F2A63B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ZSSR, Deep Image Prior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F2A63B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Se entrena con la propia imagen de test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F2A63B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KernelGAN: estima el kernel (blind SR)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28432" y="3410712"/>
            <a:ext cx="36118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028432" y="3410712"/>
            <a:ext cx="82296" cy="1783080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7888" y="3538728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Restauracion de caras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47888" y="3886200"/>
            <a:ext cx="3108960" cy="274320"/>
          </a:xfrm>
          <a:prstGeom prst="roundRect">
            <a:avLst>
              <a:gd name="adj" fmla="val 8000"/>
            </a:avLst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50800" tIns="12700" rIns="50800" bIns="12700" rtlCol="0" anchor="ctr"/>
          <a:lstStyle/>
          <a:p>
            <a:pPr algn="ctr"/>
            <a:r>
              <a:rPr sz="950" b="1" i="0">
                <a:solidFill>
                  <a:srgbClr val="FFFFFF"/>
                </a:solidFill>
                <a:latin typeface="Segoe UI"/>
              </a:rPr>
              <a:t>prior facial (StyleGAN)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7888" y="4270248"/>
            <a:ext cx="3191256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5B6B82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GFP-GAN, CodeFormer, GPEN, PULSE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5B6B82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Reconstruye rostros con identidad plausible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30" b="1" i="0">
                <a:solidFill>
                  <a:srgbClr val="5B6B82"/>
                </a:solidFill>
                <a:latin typeface="Segoe UI"/>
              </a:rPr>
              <a:t>– </a:t>
            </a:r>
            <a:r>
              <a:rPr sz="1030" b="0" i="0">
                <a:solidFill>
                  <a:srgbClr val="0F172A"/>
                </a:solidFill>
                <a:latin typeface="Segoe UI"/>
              </a:rPr>
              <a:t>Detras del 'realzar caras' de las apps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742432"/>
            <a:ext cx="11091672" cy="45720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31520" y="5742432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F172A"/>
                </a:solidFill>
                <a:latin typeface="Segoe UI"/>
              </a:rPr>
              <a:t>Fuera de SISR: </a:t>
            </a:r>
            <a:r>
              <a:rPr sz="1100" b="0" i="0">
                <a:solidFill>
                  <a:srgbClr val="64748B"/>
                </a:solidFill>
                <a:latin typeface="Segoe UI"/>
              </a:rPr>
              <a:t>Flow-based (SRFlow) · Reference-based (TTSR, MASA-SR) · Video SR (EDVR, BasicVSR++)  —  difusion = mejor realismo pero mas lenta y mas alucinacion que GAN.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6CDF"/>
                </a:solidFill>
                <a:latin typeface="Segoe UI"/>
              </a:rPr>
              <a:t>DEMO — NOTEBOOK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F172A"/>
                </a:solidFill>
                <a:latin typeface="Segoe UI Light"/>
              </a:rPr>
              <a:t>Lo que corre en Zoom_Resize_Image_extended.ipynb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4748B"/>
                </a:solidFill>
                <a:latin typeface="Segoe UI"/>
              </a:rPr>
              <a:t>De la interpolacion a la Super-Resolucion  •  The Machine Learning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2296" cy="749808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1664208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1. Interpolacion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1645920"/>
            <a:ext cx="42519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 i="0">
                <a:solidFill>
                  <a:srgbClr val="334055"/>
                </a:solidFill>
                <a:latin typeface="Segoe UI"/>
              </a:rPr>
              <a:t>PIL &amp; OpenCV: Nearest / Bilineal / Bicubica / Lanczos sobre check.tif.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95728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395728"/>
            <a:ext cx="82296" cy="749808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505456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2. degrade()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87168"/>
            <a:ext cx="42519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 i="0">
                <a:solidFill>
                  <a:srgbClr val="334055"/>
                </a:solidFill>
                <a:latin typeface="Segoe UI"/>
              </a:rPr>
              <a:t>Achica + reamplia con bicubica → par (HR, LR) para el ejemplo.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36976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236976"/>
            <a:ext cx="82296" cy="749808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3346704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3. Tabla RAISR-toy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328416"/>
            <a:ext cx="42519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 i="0">
                <a:solidFill>
                  <a:srgbClr val="334055"/>
                </a:solidFill>
                <a:latin typeface="Segoe UI"/>
              </a:rPr>
              <a:t>Cuantiza vecindario 3x3 (Q cajas), aprende color medio por caja.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78224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4078224"/>
            <a:ext cx="82296" cy="749808"/>
          </a:xfrm>
          <a:prstGeom prst="rect">
            <a:avLst/>
          </a:prstGeom>
          <a:solidFill>
            <a:srgbClr val="E04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187952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4. Real-ESRGAN x4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169664"/>
            <a:ext cx="42519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 i="0">
                <a:solidFill>
                  <a:srgbClr val="334055"/>
                </a:solidFill>
                <a:latin typeface="Segoe UI"/>
              </a:rPr>
              <a:t>Pesos auto-descargados; Lanczos vs Real-ESRGAN sobre zermatt.jpg.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19472"/>
            <a:ext cx="6903720" cy="7498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4919472"/>
            <a:ext cx="82296" cy="749808"/>
          </a:xfrm>
          <a:prstGeom prst="rect">
            <a:avLst/>
          </a:prstGeom>
          <a:solidFill>
            <a:srgbClr val="7A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" y="502920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F172A"/>
                </a:solidFill>
                <a:latin typeface="Segoe UI"/>
              </a:rPr>
              <a:t>5. Swin2SR x4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5010912"/>
            <a:ext cx="42519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 i="0">
                <a:solidFill>
                  <a:srgbClr val="334055"/>
                </a:solidFill>
                <a:latin typeface="Segoe UI"/>
              </a:rPr>
              <a:t>Transformer HF sobre recorte 96px: LR / Lanczos / Real-ESRGAN / Swin2SR.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0" y="1554480"/>
            <a:ext cx="3959352" cy="4480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680960" y="1554480"/>
            <a:ext cx="82296" cy="4480560"/>
          </a:xfrm>
          <a:prstGeom prst="rect">
            <a:avLst/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882128" y="1682496"/>
            <a:ext cx="35935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F172A"/>
                </a:solidFill>
                <a:latin typeface="Segoe UI"/>
              </a:rPr>
              <a:t>Notas practicas (Colab / T4)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2057400"/>
            <a:ext cx="36118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30" b="1" i="0">
                <a:solidFill>
                  <a:srgbClr val="122A4A"/>
                </a:solidFill>
                <a:latin typeface="Segoe UI"/>
              </a:rPr>
              <a:t>– </a:t>
            </a:r>
            <a:r>
              <a:rPr sz="1130" b="1" i="0">
                <a:solidFill>
                  <a:srgbClr val="0F172A"/>
                </a:solidFill>
                <a:latin typeface="Segoe UI"/>
              </a:rPr>
              <a:t>T4 (16 GB) basta </a:t>
            </a:r>
            <a:r>
              <a:rPr sz="1130" b="0" i="0">
                <a:solidFill>
                  <a:srgbClr val="0F172A"/>
                </a:solidFill>
                <a:latin typeface="Segoe UI"/>
              </a:rPr>
              <a:t>para Real-ESRGAN x4 y Swin2SR sobre recortes razonables.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30" b="1" i="0">
                <a:solidFill>
                  <a:srgbClr val="122A4A"/>
                </a:solidFill>
                <a:latin typeface="Segoe UI"/>
              </a:rPr>
              <a:t>– </a:t>
            </a:r>
            <a:r>
              <a:rPr sz="1130" b="1" i="0">
                <a:solidFill>
                  <a:srgbClr val="0F172A"/>
                </a:solidFill>
                <a:latin typeface="Segoe UI"/>
              </a:rPr>
              <a:t>Real-ESRGAN: </a:t>
            </a:r>
            <a:r>
              <a:rPr sz="1130" b="0" i="0">
                <a:solidFill>
                  <a:srgbClr val="0F172A"/>
                </a:solidFill>
                <a:latin typeface="Segoe UI"/>
              </a:rPr>
              <a:t>usa tile para imagenes grandes.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30" b="1" i="0">
                <a:solidFill>
                  <a:srgbClr val="122A4A"/>
                </a:solidFill>
                <a:latin typeface="Segoe UI"/>
              </a:rPr>
              <a:t>– </a:t>
            </a:r>
            <a:r>
              <a:rPr sz="1130" b="1" i="0">
                <a:solidFill>
                  <a:srgbClr val="0F172A"/>
                </a:solidFill>
                <a:latin typeface="Segoe UI"/>
              </a:rPr>
              <a:t>Swin2SR: </a:t>
            </a:r>
            <a:r>
              <a:rPr sz="1130" b="0" i="0">
                <a:solidFill>
                  <a:srgbClr val="0F172A"/>
                </a:solidFill>
                <a:latin typeface="Segoe UI"/>
              </a:rPr>
              <a:t>el mas sensible a VRAM; entrada &lt; ~512px o trocear.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30" b="1" i="0">
                <a:solidFill>
                  <a:srgbClr val="122A4A"/>
                </a:solidFill>
                <a:latin typeface="Segoe UI"/>
              </a:rPr>
              <a:t>– </a:t>
            </a:r>
            <a:r>
              <a:rPr sz="1130" b="1" i="0">
                <a:solidFill>
                  <a:srgbClr val="0F172A"/>
                </a:solidFill>
                <a:latin typeface="Segoe UI"/>
              </a:rPr>
              <a:t>Canal Y (YCbCr): </a:t>
            </a:r>
            <a:r>
              <a:rPr sz="1130" b="0" i="0">
                <a:solidFill>
                  <a:srgbClr val="0F172A"/>
                </a:solidFill>
                <a:latin typeface="Segoe UI"/>
              </a:rPr>
              <a:t>mucha SR opera en luminancia y amplia croma aparte.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30" b="1" i="0">
                <a:solidFill>
                  <a:srgbClr val="122A4A"/>
                </a:solidFill>
                <a:latin typeface="Segoe UI"/>
              </a:rPr>
              <a:t>– </a:t>
            </a:r>
            <a:r>
              <a:rPr sz="1130" b="1" i="0">
                <a:solidFill>
                  <a:srgbClr val="0F172A"/>
                </a:solidFill>
                <a:latin typeface="Segoe UI"/>
              </a:rPr>
              <a:t>Factor de escala: </a:t>
            </a:r>
            <a:r>
              <a:rPr sz="1130" b="0" i="0">
                <a:solidFill>
                  <a:srgbClr val="0F172A"/>
                </a:solidFill>
                <a:latin typeface="Segoe UI"/>
              </a:rPr>
              <a:t>usa el modelo del s correcto; x2 dos veces ≠ x4 entrenado.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130" b="1" i="0">
                <a:solidFill>
                  <a:srgbClr val="122A4A"/>
                </a:solidFill>
                <a:latin typeface="Segoe UI"/>
              </a:rPr>
              <a:t>– </a:t>
            </a:r>
            <a:r>
              <a:rPr sz="1130" b="1" i="0">
                <a:solidFill>
                  <a:srgbClr val="0F172A"/>
                </a:solidFill>
                <a:latin typeface="Segoe UI"/>
              </a:rPr>
              <a:t>Entrada: </a:t>
            </a:r>
            <a:r>
              <a:rPr sz="1130" b="0" i="0">
                <a:solidFill>
                  <a:srgbClr val="0F172A"/>
                </a:solidFill>
                <a:latin typeface="Segoe UI"/>
              </a:rPr>
              <a:t>da la LR real, no una ya ampliada con bicubica.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0" i="0">
                <a:solidFill>
                  <a:srgbClr val="FFFFFF"/>
                </a:solidFill>
                <a:latin typeface="Segoe UI Light"/>
              </a:rPr>
              <a:t>Ideas para llevarse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5544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1554480"/>
            <a:ext cx="91440" cy="1371600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6400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2B8CF"/>
                </a:solidFill>
                <a:latin typeface="Segoe UI Ligh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737360"/>
            <a:ext cx="406908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El reescalado es ill-posed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BCCBE2"/>
                </a:solidFill>
                <a:latin typeface="Segoe UI"/>
              </a:rPr>
              <a:t>no hay una unica HR; el metodo aporta el prior que decide.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632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3063240"/>
            <a:ext cx="91440" cy="137160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246120"/>
            <a:ext cx="6400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2D6CDF"/>
                </a:solidFill>
                <a:latin typeface="Segoe UI Ligh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3246120"/>
            <a:ext cx="406908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La interpolacion lineal tiene techo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BCCBE2"/>
                </a:solidFill>
                <a:latin typeface="Segoe UI"/>
              </a:rPr>
              <a:t>nucleo fijo = no anade frecuencias nuevas, solo redistribuye.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57200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" y="4572000"/>
            <a:ext cx="91440" cy="1371600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4754880"/>
            <a:ext cx="6400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E9E8A"/>
                </a:solidFill>
                <a:latin typeface="Segoe UI Ligh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4754880"/>
            <a:ext cx="406908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Aprender el prior rompe el techo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BCCBE2"/>
                </a:solidFill>
                <a:latin typeface="Segoe UI"/>
              </a:rPr>
              <a:t>de tablas (RAISR) a CNNs que generalizan sin almacenar casos.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5544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1554480"/>
            <a:ext cx="91440" cy="137160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29400" y="1737360"/>
            <a:ext cx="6400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2A63B"/>
                </a:solidFill>
                <a:latin typeface="Segoe UI Ligh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1737360"/>
            <a:ext cx="406908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GANs = realismo, no fidelidad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BCCBE2"/>
                </a:solidFill>
                <a:latin typeface="Segoe UI"/>
              </a:rPr>
              <a:t>perdida perceptual + discriminador → texturas plausibles.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30632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309360" y="3063240"/>
            <a:ext cx="91440" cy="1371600"/>
          </a:xfrm>
          <a:prstGeom prst="rect">
            <a:avLst/>
          </a:prstGeom>
          <a:solidFill>
            <a:srgbClr val="7A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29400" y="3246120"/>
            <a:ext cx="6400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7A5CE0"/>
                </a:solidFill>
                <a:latin typeface="Segoe UI Light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3246120"/>
            <a:ext cx="406908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Transformers dan contexto global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BCCBE2"/>
                </a:solidFill>
                <a:latin typeface="Segoe UI"/>
              </a:rPr>
              <a:t>Swin(2SR): atencion por ventanas, coste lineal, SOTA.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57200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12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09360" y="4572000"/>
            <a:ext cx="91440" cy="1371600"/>
          </a:xfrm>
          <a:prstGeom prst="rect">
            <a:avLst/>
          </a:prstGeom>
          <a:solidFill>
            <a:srgbClr val="E04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29400" y="4754880"/>
            <a:ext cx="64008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E04F5F"/>
                </a:solidFill>
                <a:latin typeface="Segoe UI Light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60920" y="4754880"/>
            <a:ext cx="406908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Mide con varias metricas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 i="0">
                <a:solidFill>
                  <a:srgbClr val="BCCBE2"/>
                </a:solidFill>
                <a:latin typeface="Segoe UI"/>
              </a:rPr>
              <a:t>PSNR/SSIM vs LPIPS: el dilema percepcion-distorsion es real.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D6CDF"/>
                </a:solidFill>
                <a:latin typeface="Segoe UI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0F172A"/>
                </a:solidFill>
                <a:latin typeface="Segoe UI Light"/>
              </a:rPr>
              <a:t>Papers y recursos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355080"/>
            <a:ext cx="914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4748B"/>
                </a:solidFill>
                <a:latin typeface="Segoe UI"/>
              </a:rPr>
              <a:t>De la interpolacion a la Super-Resolucion  •  The Machine Learning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2296" cy="2103120"/>
          </a:xfrm>
          <a:prstGeom prst="rect">
            <a:avLst/>
          </a:prstGeom>
          <a:solidFill>
            <a:srgbClr val="5B6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68096" y="1700784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B82"/>
                </a:solidFill>
                <a:latin typeface="Segoe UI"/>
              </a:rPr>
              <a:t>Interpolacion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121408"/>
            <a:ext cx="319125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5B6B82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Keys, Cubic convolution interpolation (1981)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5B6B82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Lanczos resampling — mazzo.li/posts/lanczos.html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55448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88536" y="1554480"/>
            <a:ext cx="82296" cy="2103120"/>
          </a:xfrm>
          <a:prstGeom prst="rect">
            <a:avLst/>
          </a:prstGeom>
          <a:solidFill>
            <a:srgbClr val="F2A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07992" y="1700784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3B"/>
                </a:solidFill>
                <a:latin typeface="Segoe UI"/>
              </a:rPr>
              <a:t>SR basada en ejemplos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7992" y="2121408"/>
            <a:ext cx="319125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F2A63B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Freeman et al., Example-Based SR (2002)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F2A63B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Yang et al., Sparse Representation (2010)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F2A63B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Romano et al., RAISR (2016) — arXiv:1606.01299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1554480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28432" y="1554480"/>
            <a:ext cx="82296" cy="2103120"/>
          </a:xfrm>
          <a:prstGeom prst="rect">
            <a:avLst/>
          </a:prstGeom>
          <a:solidFill>
            <a:srgbClr val="2D6C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47888" y="1700784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CDF"/>
                </a:solidFill>
                <a:latin typeface="Segoe UI"/>
              </a:rPr>
              <a:t>SR con CNN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121408"/>
            <a:ext cx="319125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Dong, SRCNN (2014) — arXiv:1501.00092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Shi, ESPCN (2016) — arXiv:1609.05158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Lim, EDSR (2017) — arXiv:1707.02921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2D6CDF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Zhang, RCAN (2018) — arXiv:1807.02758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822192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3822192"/>
            <a:ext cx="82296" cy="2103120"/>
          </a:xfrm>
          <a:prstGeom prst="rect">
            <a:avLst/>
          </a:prstGeom>
          <a:solidFill>
            <a:srgbClr val="E04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8096" y="3968496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04F5F"/>
                </a:solidFill>
                <a:latin typeface="Segoe UI"/>
              </a:rPr>
              <a:t>SR perceptual / GAN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4389120"/>
            <a:ext cx="319125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E04F5F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Ledig, SRGAN (2017) — arXiv:1609.04802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E04F5F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Wang, ESRGAN (2018) — arXiv:1809.00219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E04F5F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Wang, Real-ESRGAN (2021) — arXiv:2107.10833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8536" y="3822192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88536" y="3822192"/>
            <a:ext cx="82296" cy="2103120"/>
          </a:xfrm>
          <a:prstGeom prst="rect">
            <a:avLst/>
          </a:prstGeom>
          <a:solidFill>
            <a:srgbClr val="7A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07992" y="3968496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7A5CE0"/>
                </a:solidFill>
                <a:latin typeface="Segoe UI"/>
              </a:rPr>
              <a:t>Transformers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07992" y="4389120"/>
            <a:ext cx="319125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7A5CE0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Dosovitskiy, ViT (2020) — arXiv:2010.11929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7A5CE0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Liu, Swin (2021) — arXiv:2103.14030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7A5CE0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Liang, SwinIR (2021) — arXiv:2108.10257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7A5CE0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Conde, Swin2SR (2022) — arXiv:2209.11345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28432" y="3822192"/>
            <a:ext cx="361188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028432" y="3822192"/>
            <a:ext cx="82296" cy="2103120"/>
          </a:xfrm>
          <a:prstGeom prst="rect">
            <a:avLst/>
          </a:prstGeom>
          <a:solidFill>
            <a:srgbClr val="0E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47888" y="3968496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E9E8A"/>
                </a:solidFill>
                <a:latin typeface="Segoe UI"/>
              </a:rPr>
              <a:t>Metricas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4389120"/>
            <a:ext cx="319125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0E9E8A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Blau &amp; Michaeli, Perception-Distortion (2018)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0E9E8A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Zhang, LPIPS (2018) — arXiv:1801.03924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060" b="1" i="0">
                <a:solidFill>
                  <a:srgbClr val="0E9E8A"/>
                </a:solidFill>
                <a:latin typeface="Segoe UI"/>
              </a:rPr>
              <a:t>– </a:t>
            </a:r>
            <a:r>
              <a:rPr sz="1060" b="0" i="0">
                <a:solidFill>
                  <a:srgbClr val="0F172A"/>
                </a:solidFill>
                <a:latin typeface="Segoe UI"/>
              </a:rPr>
              <a:t>HF: Swin2SRForImageSuperResolution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2511</Words>
  <Application>Microsoft Office PowerPoint</Application>
  <PresentationFormat>Widescreen</PresentationFormat>
  <Paragraphs>321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Consolas</vt:lpstr>
      <vt:lpstr>Segoe UI</vt:lpstr>
      <vt:lpstr>Segoe UI Light</vt:lpstr>
      <vt:lpstr>Office Theme</vt:lpstr>
      <vt:lpstr>1_Office Theme</vt:lpstr>
      <vt:lpstr>Computer Vision:  From Classic Interpolation to Super Resolution SISR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Jan SHR</cp:lastModifiedBy>
  <cp:revision>2</cp:revision>
  <dcterms:created xsi:type="dcterms:W3CDTF">2013-01-27T09:14:16Z</dcterms:created>
  <dcterms:modified xsi:type="dcterms:W3CDTF">2026-07-04T09:22:32Z</dcterms:modified>
  <cp:category/>
</cp:coreProperties>
</file>