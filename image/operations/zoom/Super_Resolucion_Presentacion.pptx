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14" r:id="rId2"/>
  </p:sldMasterIdLst>
  <p:notesMasterIdLst>
    <p:notesMasterId r:id="rId19"/>
  </p:notesMasterIdLst>
  <p:sldIdLst>
    <p:sldId id="270" r:id="rId3"/>
    <p:sldId id="256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ED39E-A067-4821-B358-BC0484240193}" type="datetimeFigureOut">
              <a:rPr lang="es-ES_tradnl" smtClean="0"/>
              <a:t>04/07/2026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963B8-B18F-4905-B1B0-81D4EB1982B5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100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4140CD-4D1E-4695-BE12-1B8C36B1C3D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39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4FE7-6C19-7CE5-478B-86D26C478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139DD-6B03-6C07-3095-922100FA8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0DA23-0828-E2FE-6FB0-BBBEA496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6A94-8195-46E5-F014-6B231B77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4A65-9145-205F-0F20-32B1F17D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67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B56D-C1E0-8CE2-4B4D-D45DF2E0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97F60-0665-D253-8BBB-7F4CEA91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2DBB-A777-6252-3EDC-53D9CE8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8264-2C92-FB9E-E358-AD65526F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D9DC2-C8B9-AA4A-0732-C2364835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13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0C072-14F6-50E2-D7EA-09B5CB5D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8946-A297-8D4E-4F52-66A3D9726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A0589-DB2B-B3E9-F847-22E3F00C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031A-409F-F31B-B4D5-FB6C025F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9EA1D-04E5-63AA-4A55-EA6FEE30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329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43B7-3EA0-BE01-43FD-ED156819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6DE1-734B-1C04-FD95-CD9E422DE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3BFBB-8A0F-F12A-74A9-57F35C7D0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0ACA9-CB0F-F5B0-5925-5B1F702F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49AC9-63BA-0E50-1FB1-AFD3EB12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85DC2-BB4B-FB80-37A9-1DCBE4B5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092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D1BB-976B-67F1-1693-EA701C85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3D388-4109-C66D-2A84-5888305A0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57752-7017-6C1C-166E-4E14027E4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F7B0B-9735-1EE3-15C2-15B87075D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DDEAA-87A9-B47A-8E3F-B1B5081AA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B92DD-A016-FF7C-1C36-B72C9335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5203D-CD52-AB39-0D9D-C3218AB4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180C0-44B4-643C-BE1A-75F7F246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329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5771-7C3D-3FB0-AE93-B5182391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9EC2E-FA9A-A836-67BA-FA615AE0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41B2F-E50B-E5D2-B8F3-7E106836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6EE5E-B6C1-4811-C064-BB0679E2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731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BD92C-31E2-2721-7BFF-A6E0B46E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822E3-3BBC-27AF-A99A-51B512ED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1110-A4BF-897E-E835-7A812F4E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689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799F-E783-A4B4-C33B-A6519E43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16DD-B878-0387-0D81-D6718BF5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85CEF-5491-E59F-2DD3-D445405A9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60C00-8783-BD22-420C-F72BE4DF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8984F-EF25-8FA9-6F19-48B5FFF2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9750C-F85D-7661-848D-796BDEB3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019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652F-527F-6354-7EE6-0AE3B09B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09282-A44B-3CE0-0E9C-85F51FE6E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3FD9-B586-E018-7696-F9D389D1F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EF618-F66D-E8E9-A588-2E76A0C0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37DF4-E1DD-47F5-EBFC-05EF12A8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CBD46-A86A-0D49-C806-2AB4AEE6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328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8910-F7C5-AC62-7187-A3EF441A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1284D-B652-C1B8-BAF9-3D307D3BD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773F2-2C3F-29BD-FAE3-AB971AAB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4BD3-38F6-4723-5396-1B7EEF19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98F08-2852-EB9A-7684-1D759336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028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C6C38-7AF7-4BB2-982F-54D588F0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B4BBF-768F-DB22-5C12-34524F537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06C43-93B1-6425-C858-616851A5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9E0C-727C-CE5E-1143-C749C381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78DD7-AECE-E95D-8B15-0D7E243C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76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865A8-FA25-5D29-2BFD-DE88A326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B68E3-8CD0-C512-568D-5E575BCC4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D9DD-815A-357B-4740-7514916ED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647F-3444-BA03-8664-D8BAF89B6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AF3CF-8C15-0080-60B5-B26A0AD08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8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7E734232-46A8-4884-9A59-B7E3BA4B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uper Resolution Pipeline"/>
          <p:cNvPicPr>
            <a:picLocks noChangeAspect="1"/>
          </p:cNvPicPr>
          <p:nvPr/>
        </p:nvPicPr>
        <p:blipFill>
          <a:blip r:embed="rId3"/>
          <a:srcRect t="7695" r="-1" b="9770"/>
          <a:stretch>
            <a:fillRect/>
          </a:stretch>
        </p:blipFill>
        <p:spPr>
          <a:xfrm>
            <a:off x="-3" y="-8371"/>
            <a:ext cx="8115287" cy="4470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E8313D-CBF5-2D2E-A9CE-A2CC8D777E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16" r="27151" b="1"/>
          <a:stretch>
            <a:fillRect/>
          </a:stretch>
        </p:blipFill>
        <p:spPr>
          <a:xfrm>
            <a:off x="8115292" y="-8371"/>
            <a:ext cx="4076700" cy="447081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D346B8D2-3218-41A5-B817-9ABFB108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2444"/>
            <a:ext cx="8115290" cy="2394056"/>
          </a:xfrm>
          <a:prstGeom prst="rect">
            <a:avLst/>
          </a:prstGeom>
          <a:gradFill>
            <a:gsLst>
              <a:gs pos="10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D6B9EF-FF47-487C-8B82-F9F2B9A5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60944"/>
            <a:ext cx="8115285" cy="2397055"/>
          </a:xfrm>
          <a:prstGeom prst="rect">
            <a:avLst/>
          </a:prstGeom>
          <a:gradFill>
            <a:gsLst>
              <a:gs pos="7000">
                <a:srgbClr val="000000">
                  <a:alpha val="49000"/>
                </a:srgbClr>
              </a:gs>
              <a:gs pos="67000">
                <a:schemeClr val="accent1">
                  <a:lumMod val="75000"/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739" y="5101765"/>
            <a:ext cx="6867289" cy="1115412"/>
          </a:xfrm>
        </p:spPr>
        <p:txBody>
          <a:bodyPr>
            <a:normAutofit fontScale="90000"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Computer Vision:</a:t>
            </a:r>
            <a:br>
              <a:rPr lang="en-US" sz="1600" b="1" dirty="0">
                <a:solidFill>
                  <a:srgbClr val="FFFFFF"/>
                </a:solidFill>
              </a:rPr>
            </a:br>
            <a:br>
              <a:rPr lang="en-US" sz="1600" dirty="0">
                <a:solidFill>
                  <a:srgbClr val="FFFFFF"/>
                </a:solidFill>
              </a:rPr>
            </a:b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</a:rPr>
              <a:t>From Classic Interpolation to Super Resolution SISR</a:t>
            </a:r>
            <a:b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b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GB" sz="1600" b="1" dirty="0">
                <a:solidFill>
                  <a:srgbClr val="FFFFFF"/>
                </a:solidFill>
                <a:latin typeface="Arial" panose="020B0604020202020204" pitchFamily="34" charset="0"/>
              </a:rPr>
              <a:t>Interpolation → RAISR → CNN → GAN → Transformer → Diffusion</a:t>
            </a:r>
            <a:br>
              <a:rPr lang="en-US" sz="16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GB" sz="1600" dirty="0">
              <a:solidFill>
                <a:srgbClr val="FFFFFF"/>
              </a:solidFill>
            </a:endParaRPr>
          </a:p>
        </p:txBody>
      </p:sp>
      <p:pic>
        <p:nvPicPr>
          <p:cNvPr id="7" name="Picture 6" descr="A logo of a machine learning engineer&#10;&#10;AI-generated content may be incorrect.">
            <a:extLst>
              <a:ext uri="{FF2B5EF4-FFF2-40B4-BE49-F238E27FC236}">
                <a16:creationId xmlns:a16="http://schemas.microsoft.com/office/drawing/2014/main" id="{B974484C-9450-0A16-98B9-ED33CB95F5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88" r="1" b="6775"/>
          <a:stretch>
            <a:fillRect/>
          </a:stretch>
        </p:blipFill>
        <p:spPr>
          <a:xfrm>
            <a:off x="8115292" y="4454317"/>
            <a:ext cx="4076700" cy="24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69680" y="822960"/>
            <a:ext cx="347472" cy="347472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1207008"/>
            <a:ext cx="347472" cy="34747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69680" y="1591056"/>
            <a:ext cx="347472" cy="34747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69680" y="1975104"/>
            <a:ext cx="347472" cy="347472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53728" y="822960"/>
            <a:ext cx="347472" cy="34747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53728" y="1207008"/>
            <a:ext cx="347472" cy="34747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53728" y="1591056"/>
            <a:ext cx="347472" cy="347472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53728" y="1975104"/>
            <a:ext cx="347472" cy="347472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37776" y="822960"/>
            <a:ext cx="347472" cy="34747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37776" y="1207008"/>
            <a:ext cx="347472" cy="347472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37776" y="1591056"/>
            <a:ext cx="347472" cy="347472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37776" y="1975104"/>
            <a:ext cx="347472" cy="34747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21824" y="822960"/>
            <a:ext cx="347472" cy="347472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21824" y="1207008"/>
            <a:ext cx="347472" cy="347472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21824" y="1591056"/>
            <a:ext cx="347472" cy="34747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21824" y="1975104"/>
            <a:ext cx="347472" cy="34747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1371600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200" b="1" i="0">
                <a:solidFill>
                  <a:srgbClr val="22B8CF"/>
                </a:solidFill>
                <a:latin typeface="Segoe UI"/>
              </a:rPr>
              <a:t>SESION TECNICA  •  COMPUTER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65960"/>
            <a:ext cx="8778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 i="0">
                <a:solidFill>
                  <a:srgbClr val="FFFFFF"/>
                </a:solidFill>
                <a:latin typeface="Segoe UI Light"/>
              </a:rPr>
              <a:t>De la interpolacion clasica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 i="0">
                <a:solidFill>
                  <a:srgbClr val="FFFFFF"/>
                </a:solidFill>
                <a:latin typeface="Segoe UI Light"/>
              </a:rPr>
              <a:t>a la </a:t>
            </a:r>
            <a:r>
              <a:rPr sz="4000" b="1" i="0">
                <a:solidFill>
                  <a:srgbClr val="22B8CF"/>
                </a:solidFill>
                <a:latin typeface="Segoe UI Light"/>
              </a:rPr>
              <a:t>Super-Resolucion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C9D6EA"/>
                </a:solidFill>
                <a:latin typeface="Segoe UI Light"/>
              </a:rPr>
              <a:t>con Deep Learning y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10607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9FB2CE"/>
                </a:solidFill>
                <a:latin typeface="Segoe UI"/>
              </a:rPr>
              <a:t>Nearest → </a:t>
            </a:r>
            <a:r>
              <a:rPr sz="1400" b="0" i="0" dirty="0" err="1">
                <a:solidFill>
                  <a:srgbClr val="9FB2CE"/>
                </a:solidFill>
                <a:latin typeface="Segoe UI"/>
              </a:rPr>
              <a:t>Bilineal</a:t>
            </a:r>
            <a:r>
              <a:rPr sz="1400" b="0" i="0" dirty="0">
                <a:solidFill>
                  <a:srgbClr val="9FB2CE"/>
                </a:solidFill>
                <a:latin typeface="Segoe UI"/>
              </a:rPr>
              <a:t> → </a:t>
            </a:r>
            <a:r>
              <a:rPr sz="1400" b="0" i="0" dirty="0" err="1">
                <a:solidFill>
                  <a:srgbClr val="9FB2CE"/>
                </a:solidFill>
                <a:latin typeface="Segoe UI"/>
              </a:rPr>
              <a:t>Bicubica</a:t>
            </a:r>
            <a:r>
              <a:rPr sz="1400" b="0" i="0" dirty="0">
                <a:solidFill>
                  <a:srgbClr val="9FB2CE"/>
                </a:solidFill>
                <a:latin typeface="Segoe UI"/>
              </a:rPr>
              <a:t> → Lanczos   ▪   RAISR   ▪   SRCNN/EDSR   ▪   SRGAN/Real-ESRGAN   ▪   </a:t>
            </a:r>
            <a:r>
              <a:rPr sz="1400" b="0" i="0" dirty="0" err="1">
                <a:solidFill>
                  <a:srgbClr val="9FB2CE"/>
                </a:solidFill>
                <a:latin typeface="Segoe UI"/>
              </a:rPr>
              <a:t>SwinIR</a:t>
            </a:r>
            <a:r>
              <a:rPr sz="1400" b="0" i="0" dirty="0">
                <a:solidFill>
                  <a:srgbClr val="9FB2CE"/>
                </a:solidFill>
                <a:latin typeface="Segoe UI"/>
              </a:rPr>
              <a:t>/Swin2SR</a:t>
            </a:r>
            <a:r>
              <a:rPr lang="en-US" sz="1400" b="0" i="0" dirty="0">
                <a:solidFill>
                  <a:srgbClr val="9FB2CE"/>
                </a:solidFill>
                <a:latin typeface="Segoe UI"/>
              </a:rPr>
              <a:t>  </a:t>
            </a:r>
            <a:r>
              <a:rPr lang="en-GB" sz="1400" dirty="0">
                <a:solidFill>
                  <a:srgbClr val="9FB2CE"/>
                </a:solidFill>
                <a:latin typeface="Segoe UI"/>
              </a:rPr>
              <a:t>▪  Diffusion</a:t>
            </a:r>
            <a:endParaRPr sz="1400" b="0" i="0" dirty="0">
              <a:solidFill>
                <a:srgbClr val="9FB2CE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7240" y="5715000"/>
            <a:ext cx="10607040" cy="15240"/>
          </a:xfrm>
          <a:prstGeom prst="rect">
            <a:avLst/>
          </a:prstGeom>
          <a:solidFill>
            <a:srgbClr val="2A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Notebook: </a:t>
            </a:r>
            <a:r>
              <a:rPr sz="1200" b="0" i="0">
                <a:solidFill>
                  <a:srgbClr val="B8C7DE"/>
                </a:solidFill>
                <a:latin typeface="Consolas"/>
              </a:rPr>
              <a:t>Zoom_Resize_Image_extended.ipynb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897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Colab • GPU T4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D6CD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00 —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Recordatorio: que es una imagen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834640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Imagen digital = rejilla de pixeles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80" b="0" i="0" u="none" strike="noStrike" kern="1200" cap="none" spc="0" normalizeH="0" baseline="0" noProof="0">
                <a:ln>
                  <a:noFill/>
                </a:ln>
                <a:solidFill>
                  <a:srgbClr val="33405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Matriz de W×H celdas; cada pixel guarda un numero.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Como un mosaico: de cerca, teselas; de lejos, la foto. Ampliar = anadir teselas nuevas.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74136" y="1554480"/>
            <a:ext cx="82296" cy="283464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75304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Resolucion y PPI / 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80" b="0" i="0" u="none" strike="noStrike" kern="1200" cap="none" spc="0" normalizeH="0" baseline="0" noProof="0">
                <a:ln>
                  <a:noFill/>
                </a:ln>
                <a:solidFill>
                  <a:srgbClr val="33405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Resolucion = cuantos pixeles (p. ej. 1920×1080).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75304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75304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PPI: pixeles/pulgada (pantalla). DPI: puntos/pulgada (impresion). Mas densidad = mas detalle al mismo tamano.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99632" y="1554480"/>
            <a:ext cx="82296" cy="28346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0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Blanco y negro (grises)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80" b="0" i="0" u="none" strike="noStrike" kern="1200" cap="none" spc="0" normalizeH="0" baseline="0" noProof="0">
                <a:ln>
                  <a:noFill/>
                </a:ln>
                <a:solidFill>
                  <a:srgbClr val="33405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 numero por pixel. 8 bits → 2⁸ = 256 niveles.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 = negro, 255 = blanco. Es la base del 256⁸ de la tabla de vecindarios (RAISR).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25128" y="1554480"/>
            <a:ext cx="82296" cy="283464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226296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Color (RGB)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180" b="0" i="0" u="none" strike="noStrike" kern="1200" cap="none" spc="0" normalizeH="0" baseline="0" noProof="0">
                <a:ln>
                  <a:noFill/>
                </a:ln>
                <a:solidFill>
                  <a:srgbClr val="33405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 numeros por pixel: rojo, verde y azul.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6296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26296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08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256 niveles por canal → 256³ ≈ 16,7 M de colores posibles por pixel.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82296" cy="141732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4709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E04F5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Por que importa aqui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74920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Ampliar una imagen es </a:t>
            </a: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anadir celdas nuevas a la rejilla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y decidir que numero ponerles. Toda la sesion va de </a:t>
            </a: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E04F5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como decidir esos numeros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formulas fijas (interpolacion) o priors aprendidos (SR).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89204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0" y="4892040"/>
            <a:ext cx="4709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22A4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pixel = numero(s):  gris 1 canal  ·  color 3 canales (RGB)</a:t>
            </a: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256 niveles/canal (2⁸)  →  RGB: 256³ ≈ 16,7 M valores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Que vamos a recorrer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82296" cy="10789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5506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D6CDF"/>
                </a:solidFill>
                <a:latin typeface="Segoe U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7335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El problema del reescalado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Por que ampliar es un problema mal planteado (ill-posed)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82296" cy="107899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84378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2B8CF"/>
                </a:solidFill>
                <a:latin typeface="Segoe U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6207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Interpolacion clasica y su techo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Nearest, Bilineal, Bicubica, Lanczos: filtros lineales fijos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82296" cy="1078992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03250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9E8A"/>
                </a:solidFill>
                <a:latin typeface="Segoe UI Ligh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5079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Formular la Super-Resolucion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F(LR;theta) y el modelo de degradacion para generar pares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82296" cy="1078992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522122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A63B"/>
                </a:solidFill>
                <a:latin typeface="Segoe UI Light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3951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De ejemplos a RAISR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La tabla de vecindarios, la maldicion de la dimensionalidad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0876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82296" cy="1078992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165506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7A5CE0"/>
                </a:solidFill>
                <a:latin typeface="Segoe UI Light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167335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CNNs para SR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SRCNN, ESPCN, EDSR, RCAN y las funciones de perdida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69748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2697480"/>
            <a:ext cx="82296" cy="1078992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284378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04F5F"/>
                </a:solidFill>
                <a:latin typeface="Segoe UI Light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86207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El salto perceptual (GAN)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SRGAN, ESRGAN, Real-ESRGAN: texturas realistas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8620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886200"/>
            <a:ext cx="82296" cy="1078992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403250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22A4A"/>
                </a:solidFill>
                <a:latin typeface="Segoe UI Light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05079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Transformers: SwinIR / Swin2SR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Atencion por ventanas y contexto global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074920"/>
            <a:ext cx="539496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5074920"/>
            <a:ext cx="82296" cy="1078992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522122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B6B82"/>
                </a:solidFill>
                <a:latin typeface="Segoe UI Light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23951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Metricas y demo del notebook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PSNR/SSIM/LPIPS, el dilema percepcion-distorsion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01 —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Ampliar es inventar pixeles que no existian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82296" cy="4480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D6CDF"/>
                </a:solidFill>
                <a:latin typeface="Segoe UI"/>
              </a:rPr>
              <a:t>Un problema mal planteado (ill-posed)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749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Ampliar factor s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→ hay que generar s²·W·H − W·H pixeles nuevos que no estaban.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Infinitas soluciones.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Muchas imagenes HR distintas, al reducirse, dan la misma LR.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Todo metodo elige una.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Ampliar = elegir una de esas infinitas HR posibles.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Interpolacion: prior fija.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Asume que la imagen es suave (media de vecinos).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SR aprendida: prior de datos.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Sabe que las imagenes naturales tienen bordes, piel, madera... y puede 'alucinar' detalle plausible.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0040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6451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772400" y="2240280"/>
            <a:ext cx="1554480" cy="1645920"/>
          </a:xfrm>
          <a:prstGeom prst="bentConnector3">
            <a:avLst/>
          </a:prstGeom>
          <a:ln w="19050">
            <a:solidFill>
              <a:srgbClr val="D8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173736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2788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HR ?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772400" y="3657600"/>
            <a:ext cx="1554480" cy="228600"/>
          </a:xfrm>
          <a:prstGeom prst="bentConnector3">
            <a:avLst/>
          </a:prstGeom>
          <a:ln w="19050">
            <a:solidFill>
              <a:srgbClr val="D8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315468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HR 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3886200"/>
            <a:ext cx="1554480" cy="1188720"/>
          </a:xfrm>
          <a:prstGeom prst="bentConnector3">
            <a:avLst/>
          </a:prstGeom>
          <a:ln w="19050">
            <a:solidFill>
              <a:srgbClr val="D8E1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457200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562356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HR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934456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4748B"/>
                </a:solidFill>
                <a:latin typeface="Segoe UI"/>
              </a:rPr>
              <a:t>Una LR → </a:t>
            </a:r>
            <a:r>
              <a:rPr sz="1200" b="0" i="0" dirty="0" err="1">
                <a:solidFill>
                  <a:srgbClr val="64748B"/>
                </a:solidFill>
                <a:latin typeface="Segoe UI"/>
              </a:rPr>
              <a:t>muchas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 HR </a:t>
            </a:r>
            <a:r>
              <a:rPr sz="1200" b="0" i="0" dirty="0" err="1">
                <a:solidFill>
                  <a:srgbClr val="64748B"/>
                </a:solidFill>
                <a:latin typeface="Segoe UI"/>
              </a:rPr>
              <a:t>posibles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. El </a:t>
            </a:r>
            <a:r>
              <a:rPr sz="1200" b="0" i="0" dirty="0" err="1">
                <a:solidFill>
                  <a:srgbClr val="64748B"/>
                </a:solidFill>
                <a:latin typeface="Segoe UI"/>
              </a:rPr>
              <a:t>metodo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Segoe UI"/>
              </a:rPr>
              <a:t>aporta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 el </a:t>
            </a:r>
            <a:r>
              <a:rPr sz="1200" b="1" i="1" dirty="0">
                <a:solidFill>
                  <a:srgbClr val="2D6CDF"/>
                </a:solidFill>
                <a:latin typeface="Segoe UI"/>
              </a:rPr>
              <a:t>prior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Segoe UI"/>
              </a:rPr>
              <a:t>que</a:t>
            </a:r>
            <a:r>
              <a:rPr sz="1200" b="0" i="0" dirty="0">
                <a:solidFill>
                  <a:srgbClr val="64748B"/>
                </a:solidFill>
                <a:latin typeface="Segoe UI"/>
              </a:rPr>
              <a:t> decide.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02 — INTERPOLACION CLASICA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Cuatro nucleos, una misma familia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834640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Nearest-Neighbor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334055"/>
                </a:solidFill>
                <a:latin typeface="Segoe UI"/>
              </a:rPr>
              <a:t>Pixel mas cercano. Nucleo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64748B"/>
                </a:solidFill>
                <a:latin typeface="Segoe UI"/>
              </a:rPr>
              <a:t>O(1)/pixel; bordes duros pero efecto de bloques (aliasing).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1554480"/>
            <a:ext cx="82296" cy="283464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75304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Bilineal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334055"/>
                </a:solidFill>
                <a:latin typeface="Segoe UI"/>
              </a:rPr>
              <a:t>Media de los 4 vecinos. Nucleo 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75304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75304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64748B"/>
                </a:solidFill>
                <a:latin typeface="Segoe UI"/>
              </a:rPr>
              <a:t>Suaviza; atenua altas frecuencias → emborrona.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1554480"/>
            <a:ext cx="82296" cy="28346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Bicubica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334055"/>
                </a:solidFill>
                <a:latin typeface="Segoe UI"/>
              </a:rPr>
              <a:t>Vecindario 4x4 (16 px), polinomio cubico (Keys, a=-0.5).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64748B"/>
                </a:solidFill>
                <a:latin typeface="Segoe UI"/>
              </a:rPr>
              <a:t>Estandar de facto en fotografia.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155448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25128" y="1554480"/>
            <a:ext cx="82296" cy="283464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26296" y="1755648"/>
            <a:ext cx="502920" cy="292608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15798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Lanczos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2651760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334055"/>
                </a:solidFill>
                <a:latin typeface="Segoe UI"/>
              </a:rPr>
              <a:t>sinc enventanada (a=2/3). Reconstructor ideal (Nyquist).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6296" y="3639311"/>
            <a:ext cx="2295144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26296" y="3749040"/>
            <a:ext cx="22951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64748B"/>
                </a:solidFill>
                <a:latin typeface="Segoe UI"/>
              </a:rPr>
              <a:t>Bordes mas nitidos; posibles halos (ringing) y mas coste.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82296" cy="141732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4709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04F5F"/>
                </a:solidFill>
                <a:latin typeface="Segoe UI"/>
              </a:rPr>
              <a:t>El techo comun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074920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Todos son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filtros lineales con nucleo fijo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. El nucleo no depende del contenido → </a:t>
            </a:r>
            <a:r>
              <a:rPr sz="1250" b="1" i="0">
                <a:solidFill>
                  <a:srgbClr val="E04F5F"/>
                </a:solidFill>
                <a:latin typeface="Segoe UI"/>
              </a:rPr>
              <a:t>no anaden frecuencias nuevas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, solo redistribuyen. El detalle perdido no se recupera.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89204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892040"/>
            <a:ext cx="4709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2A4A"/>
                </a:solidFill>
                <a:latin typeface="Consolas"/>
              </a:rPr>
              <a:t>I_HR(x,y) = Σ  k(i,j) · I_LR(xᵢ, yⱼ)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k fijo  →  combinacion lineal de la entrada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03 — FORMULACION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SISR y el modelo de degradacion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82296" cy="1965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3677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La funcion que se aprende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22A4A"/>
                </a:solidFill>
                <a:latin typeface="Consolas"/>
              </a:rPr>
              <a:t>Î_HR = F(I_LR ; 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F172A"/>
                </a:solidFill>
                <a:latin typeface="Consolas"/>
              </a:rPr>
              <a:t>θ* = argmin  (1/N) Σ  L( F(LR;θ), HR 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Se minimiza una perdida sobre pares (LR, HR).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82296" cy="237744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73989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¿De donde salen los pares?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4983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Casi nunca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hay fotos reales del mismo objeto a dos resoluciones alineadas.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Solucion: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partir de HR buenas y degradarlas de forma controlada.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El modelo solo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sabe deshacer las degradaciones que vio en entrenamiento.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08760"/>
            <a:ext cx="551383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508760"/>
            <a:ext cx="82296" cy="448056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636776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Degradation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Modelo clasico (bicubic degradation)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86000"/>
            <a:ext cx="5074920" cy="502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28600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2A4A"/>
                </a:solidFill>
                <a:latin typeface="Consolas"/>
              </a:rPr>
              <a:t>I_LR = (I_HR * k) ↓s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26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Modelo realista (BSRGAN / Real-ESRGAN)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5074920" cy="502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24612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2A4A"/>
                </a:solidFill>
                <a:latin typeface="Consolas"/>
              </a:rPr>
              <a:t>I_LR = [ (I_HR * k)↓s + n ]_JPEG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977639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Blur (k)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977639"/>
            <a:ext cx="146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53528" y="3977639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Downsample ↓s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977639"/>
            <a:ext cx="146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1976" y="3977639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Ruido 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2408" y="3977639"/>
            <a:ext cx="146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50424" y="3977639"/>
            <a:ext cx="1188720" cy="384048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JPEG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52628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E9E8A"/>
                </a:solidFill>
                <a:latin typeface="Segoe UI"/>
              </a:rPr>
              <a:t>High-order degradation: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la cadena se aplica varias veces para imitar fotos reales (capturas, escaneos, video recomprimido).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64748B"/>
                </a:solidFill>
                <a:latin typeface="Segoe UI"/>
              </a:rPr>
              <a:t>En el notebook, </a:t>
            </a:r>
            <a:r>
              <a:rPr sz="1150" b="1" i="0">
                <a:solidFill>
                  <a:srgbClr val="122A4A"/>
                </a:solidFill>
                <a:latin typeface="Consolas"/>
              </a:rPr>
              <a:t>degrade() </a:t>
            </a:r>
            <a:r>
              <a:rPr sz="1150" b="0" i="1">
                <a:solidFill>
                  <a:srgbClr val="64748B"/>
                </a:solidFill>
                <a:latin typeface="Segoe UI"/>
              </a:rPr>
              <a:t>achica + reamplia con bicubica para ilustrar el concepto.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04 — DE EJEMPLOS A RAISR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La 'tabla de vecindarios' y su muro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82296" cy="448056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3B"/>
                </a:solidFill>
                <a:latin typeface="Segoe UI"/>
              </a:rPr>
              <a:t>Example-based SR (Freeman, 2002)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Diccionario de parches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LR↔HR: por cada parche LR se busca el mas parecido y se pega su HR.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250" b="1" i="0">
                <a:solidFill>
                  <a:srgbClr val="0F172A"/>
                </a:solidFill>
                <a:latin typeface="Segoe UI"/>
              </a:rPr>
              <a:t>Lento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y con base de datos enorme.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29000"/>
            <a:ext cx="5029200" cy="1270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04F5F"/>
                </a:solidFill>
                <a:latin typeface="Segoe UI"/>
              </a:rPr>
              <a:t>La maldicion de la dimensionalidad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77639"/>
            <a:ext cx="30175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8 vecinos (1 fila)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977639"/>
            <a:ext cx="1965960" cy="384048"/>
          </a:xfrm>
          <a:prstGeom prst="rect">
            <a:avLst/>
          </a:prstGeom>
          <a:solidFill>
            <a:srgbClr val="FBECEC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3977639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4F5F"/>
                </a:solidFill>
                <a:latin typeface="Consolas"/>
              </a:rPr>
              <a:t>256⁸ ≈ 1.8×10¹⁹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434839"/>
            <a:ext cx="30175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34839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24 vecinos (2 filas)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4434839"/>
            <a:ext cx="1965960" cy="384048"/>
          </a:xfrm>
          <a:prstGeom prst="rect">
            <a:avLst/>
          </a:prstGeom>
          <a:solidFill>
            <a:srgbClr val="FBECEC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4434839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4F5F"/>
                </a:solidFill>
                <a:latin typeface="Consolas"/>
              </a:rPr>
              <a:t>256²⁴ ≈ 6.3×10⁵⁷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92039"/>
            <a:ext cx="30175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92039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72A"/>
                </a:solidFill>
                <a:latin typeface="Segoe UI"/>
              </a:rPr>
              <a:t>+ color (RGB)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4892039"/>
            <a:ext cx="1965960" cy="384048"/>
          </a:xfrm>
          <a:prstGeom prst="rect">
            <a:avLst/>
          </a:prstGeom>
          <a:solidFill>
            <a:srgbClr val="FBECEC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4892039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04F5F"/>
                </a:solidFill>
                <a:latin typeface="Consolas"/>
              </a:rPr>
              <a:t>astronomico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4748B"/>
                </a:solidFill>
                <a:latin typeface="Segoe UI"/>
              </a:rPr>
              <a:t>La tabla nunca se llena → queda </a:t>
            </a:r>
            <a:r>
              <a:rPr sz="1150" b="1" i="1">
                <a:solidFill>
                  <a:srgbClr val="E04F5F"/>
                </a:solidFill>
                <a:latin typeface="Segoe UI"/>
              </a:rPr>
              <a:t>vacia justo donde la consultas.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508760"/>
            <a:ext cx="546811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1508760"/>
            <a:ext cx="82296" cy="448056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9E8A"/>
                </a:solidFill>
                <a:latin typeface="Segoe UI"/>
              </a:rPr>
              <a:t>RAISR (Google, 2016) — la idea 'apanada'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4884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200" b="1" i="0">
                <a:solidFill>
                  <a:srgbClr val="0F172A"/>
                </a:solidFill>
                <a:latin typeface="Segoe UI"/>
              </a:rPr>
              <a:t>No guarda todos los colores.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Clasifica cada parche en pocos cubos (buckets).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200" b="1" i="0">
                <a:solidFill>
                  <a:srgbClr val="0F172A"/>
                </a:solidFill>
                <a:latin typeface="Segoe UI"/>
              </a:rPr>
              <a:t>Segun el gradiente local: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angulo, fuerza y coherencia.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200" b="1" i="0">
                <a:solidFill>
                  <a:srgbClr val="0F172A"/>
                </a:solidFill>
                <a:latin typeface="Segoe UI"/>
              </a:rPr>
              <a:t>Por cada cubo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aprende un filtro lineal optimo (minimos cuadrados).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200" b="1" i="0">
                <a:solidFill>
                  <a:srgbClr val="0F172A"/>
                </a:solidFill>
                <a:latin typeface="Segoe UI"/>
              </a:rPr>
              <a:t>Inferencia: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gradiente → cubo → aplica su filtro. Calidad ~CNN de su epoca, ordenes de magnitud mas rapido.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09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2700">
            <a:solidFill>
              <a:srgbClr val="B9E0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828032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9E8A"/>
                </a:solidFill>
                <a:latin typeface="Segoe UI"/>
              </a:rPr>
              <a:t>En el notebook: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un RAISR de juguete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A5049"/>
                </a:solidFill>
                <a:latin typeface="Segoe UI"/>
              </a:rPr>
              <a:t>Cuantiza el vecindario 3x3 en Q niveles y aprende el color medio por caja. Muestra por que la cuantizacion (agrupar en pocas cajas) hace la idea viable.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05 — REDES CONVOLUCIONALES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La CNN generaliza: no guarda una tabla, guarda una funcion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5448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Segoe UI"/>
              </a:rPr>
              <a:t>Aportacion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694944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73152" cy="5669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SRCNN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01168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D6CDF"/>
                </a:solidFill>
                <a:latin typeface="Segoe UI"/>
              </a:rPr>
              <a:t>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116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Primera CNN para SR (3 capas). Supera a la interpolacion.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6949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73152" cy="56692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FSRCNN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65176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B8CF"/>
                </a:solidFill>
                <a:latin typeface="Segoe UI"/>
              </a:rPr>
              <a:t>2016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65176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Procesa en LR y amplia al final → mucho mas rapido.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73152" cy="566928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ESPCN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29184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9E8A"/>
                </a:solidFill>
                <a:latin typeface="Segoe UI"/>
              </a:rPr>
              <a:t>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29184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Sub-pixel conv / pixel shuffle: aprende s² mapas y reordena. Estandar hoy.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6949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931920"/>
            <a:ext cx="73152" cy="566928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VDSR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93192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A5CE0"/>
                </a:solidFill>
                <a:latin typeface="Segoe UI"/>
              </a:rPr>
              <a:t>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393192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20 capas + aprendizaje residual (predice solo el detalle que falta).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694944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572000"/>
            <a:ext cx="73152" cy="56692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EDSR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57200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3B"/>
                </a:solidFill>
                <a:latin typeface="Segoe UI"/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57200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Bloques residuales sin BatchNorm. Ganador NTIRE, gran PSNR.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6949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73152" cy="566928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21208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04F5F"/>
                </a:solidFill>
                <a:latin typeface="Segoe UI"/>
              </a:rPr>
              <a:t>2018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521208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Atencion de canal + redes muy profundas (400+ capas).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1554480"/>
            <a:ext cx="391363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26679" y="1554480"/>
            <a:ext cx="82296" cy="44348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27847" y="1682496"/>
            <a:ext cx="3547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Funciones de perdida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79" y="205740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79" y="20574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onsolas"/>
              </a:rPr>
              <a:t>L₁ = ‖ HR − ÈR ‖₁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269748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79" y="26974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2A4A"/>
                </a:solidFill>
                <a:latin typeface="Consolas"/>
              </a:rPr>
              <a:t>L₂ = ‖ HR − ÈR ‖²₂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47472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Error pixel a pixel.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0F172A"/>
                </a:solidFill>
                <a:latin typeface="Segoe UI"/>
              </a:rPr>
              <a:t>Maximizan PSNR pero dan imagenes </a:t>
            </a:r>
            <a:r>
              <a:rPr sz="1200" b="1" i="0">
                <a:solidFill>
                  <a:srgbClr val="E04F5F"/>
                </a:solidFill>
                <a:latin typeface="Segoe UI"/>
              </a:rPr>
              <a:t>suaves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: la media de todas las HR plausibles es borrosa.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1">
                <a:solidFill>
                  <a:srgbClr val="0E9E8A"/>
                </a:solidFill>
                <a:latin typeface="Segoe UI"/>
              </a:rPr>
              <a:t>→ Resolverlo lleva al salto perceptual (GAN).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06 — EL SALTO PERCEPTUAL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GANs: texturas que 'parecen' reales, no optimas en PSNR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32004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960120" cy="329184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SRGAN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31720"/>
            <a:ext cx="3191256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Perdida perceptual: compara features de VGG, no pixeles.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Perdida adversaria: un discriminador D distingue HR real de generada; G aprende a enganarlo.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544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8536" y="1554480"/>
            <a:ext cx="82296" cy="320040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89704" y="1755648"/>
            <a:ext cx="960120" cy="329184"/>
          </a:xfrm>
          <a:prstGeom prst="roundRect">
            <a:avLst>
              <a:gd name="adj" fmla="val 8000"/>
            </a:avLst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ESRGAN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191256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Bloques RRDB (Residual-in-Residual Dense) sin BatchNorm.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Discriminador relativista + perdida sobre features pre-activacion.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Texturas notablemente mas realistas.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5448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2" y="1554480"/>
            <a:ext cx="82296" cy="320040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1755648"/>
            <a:ext cx="960120" cy="329184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7373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Real-ESRGAN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31720"/>
            <a:ext cx="3191256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Degradacion de alto orden: ruido + blur + JPEG en cadena.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Discriminador U-Net con spectral norm (feedback por pixel).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Estandar practico para fotos y arte. El del notebook.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82296" cy="105156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5120640"/>
            <a:ext cx="4937760" cy="6583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2A4A"/>
                </a:solidFill>
                <a:latin typeface="Consolas"/>
              </a:rPr>
              <a:t>L_G = L_perceptual  +  λ · L_adv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138928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9E8A"/>
                </a:solidFill>
                <a:latin typeface="Segoe UI"/>
              </a:rPr>
              <a:t>El discriminador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es el juez aprendido que detecta 'inventos' que no parecen reales; empuja al generador hacia texturas plausibles.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07 —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Contexto global aprendido: ViT → Swin → Swin2SR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82296" cy="3063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ViT (2020)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31136"/>
            <a:ext cx="3191256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Trocea en parches (tokens) + auto-atencion.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Cada token 'mira' a todos → contexto global / largo alcance.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Pero atencion global escala O(n²): inviable a resolucion completa.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2807208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572768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8536" y="1572768"/>
            <a:ext cx="82296" cy="306324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7373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Swin Transformer (2021)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31136"/>
            <a:ext cx="3191256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Atencion por ventanas locales (windowed).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Shifted windows: la info fluye entre ventanas por capas.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Coste lineal con los pixeles → aplicable a SR.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807208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72768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2" y="1572768"/>
            <a:ext cx="82296" cy="306324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73736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SwinIR / Swin2SR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231136"/>
            <a:ext cx="3191256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SwinIR: SOTA en SR/denoising con menos parametros que CNN.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Swin2SR: Swin V2 + modo compressed-input (JPEG).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180" b="0" i="0">
                <a:solidFill>
                  <a:srgbClr val="0F172A"/>
                </a:solidFill>
                <a:latin typeface="Segoe UI"/>
              </a:rPr>
              <a:t>Integrado en HuggingFace transformers.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82296" cy="118872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63B"/>
                </a:solidFill>
                <a:latin typeface="Segoe UI"/>
              </a:rPr>
              <a:t>Coste y memoria: 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la atencion (aun por ventanas) consume VRAM con imagenes grandes. Recomendacion: procesar recortes o trocear (tiling).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  <a:latin typeface="Segoe UI"/>
              </a:rPr>
              <a:t>En el notebook Swin2SR se aplica sobre un recorte de 96 px → x4, para no saturar el Transformer.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08 — METRICAS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Como comparar: fidelidad vs. percepcion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0574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7190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PSNR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21408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↑ fidelidad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42032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5"/>
                </a:solidFill>
                <a:latin typeface="Segoe UI"/>
              </a:rPr>
              <a:t>Derivada del MSE. Mas alto = mas fiel pixel a pixel. No correlaciona bien con el ojo.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64992" y="1554480"/>
            <a:ext cx="82296" cy="205740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7190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SSIM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121408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↑ estructura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5"/>
                </a:solidFill>
                <a:latin typeface="Segoe UI"/>
              </a:rPr>
              <a:t>Luminancia, contraste y estructura local. Mas cercana a la percepcion. Rango [0,1].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1554480"/>
            <a:ext cx="82296" cy="205740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7190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LPIPS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2121408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↓ perceptual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542032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5"/>
                </a:solidFill>
                <a:latin typeface="Segoe UI"/>
              </a:rPr>
              <a:t>Distancia en features de una red profunda. Mas bajo = mas parecido perceptual. Referencia hoy.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7696" y="1554480"/>
            <a:ext cx="82296" cy="205740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8864" y="17190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NIQE / MANIQA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4" y="2121408"/>
            <a:ext cx="1371600" cy="292608"/>
          </a:xfrm>
          <a:prstGeom prst="roundRect">
            <a:avLst>
              <a:gd name="adj" fmla="val 8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no-reference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542032"/>
            <a:ext cx="22951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4055"/>
                </a:solidFill>
                <a:latin typeface="Segoe UI"/>
              </a:rPr>
              <a:t>Sin referencia (no necesitan HR). Utiles para SR del mundo real sin ground truth.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1109167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82296" cy="214884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977639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04F5F"/>
                </a:solidFill>
                <a:latin typeface="Segoe UI"/>
              </a:rPr>
              <a:t>El dilema percepcion–distorsion (Blau &amp; Michaeli, 2018)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70832"/>
            <a:ext cx="6309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F172A"/>
                </a:solidFill>
                <a:latin typeface="Segoe UI"/>
              </a:rPr>
              <a:t>Compromiso </a:t>
            </a:r>
            <a:r>
              <a:rPr sz="1250" b="1" i="0">
                <a:solidFill>
                  <a:srgbClr val="E04F5F"/>
                </a:solidFill>
                <a:latin typeface="Segoe UI"/>
              </a:rPr>
              <a:t>fundamental</a:t>
            </a:r>
            <a:r>
              <a:rPr sz="1250" b="0" i="0">
                <a:solidFill>
                  <a:srgbClr val="0F172A"/>
                </a:solidFill>
                <a:latin typeface="Segoe UI"/>
              </a:rPr>
              <a:t>: no se pueden maximizar a la vez fidelidad (PSNR/SSIM altos) y realismo perceptual (LPIPS bajo).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D6CDF"/>
                </a:solidFill>
                <a:latin typeface="Segoe UI"/>
              </a:rPr>
              <a:t>Orientados a PSNR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(EDSR, SwinIR-PSNR): fieles pero mas suaves.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A5CE0"/>
                </a:solidFill>
                <a:latin typeface="Segoe UI"/>
              </a:rPr>
              <a:t>GAN / perceptuales </a:t>
            </a:r>
            <a:r>
              <a:rPr sz="1200" b="0" i="0">
                <a:solidFill>
                  <a:srgbClr val="0F172A"/>
                </a:solidFill>
                <a:latin typeface="Segoe UI"/>
              </a:rPr>
              <a:t>(ESRGAN, Real-ESRGAN): nitidos y realistas, pueden 'inventar' detalle (peor PSNR).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370832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44805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La eleccion depende del uso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D6CDF"/>
                </a:solidFill>
                <a:latin typeface="Segoe UI"/>
              </a:rPr>
              <a:t>Fidelidad metrica </a:t>
            </a:r>
            <a:r>
              <a:rPr sz="1150" b="0" i="0">
                <a:solidFill>
                  <a:srgbClr val="64748B"/>
                </a:solidFill>
                <a:latin typeface="Segoe UI"/>
              </a:rPr>
              <a:t>→ medicina, forense.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7A5CE0"/>
                </a:solidFill>
                <a:latin typeface="Segoe UI"/>
              </a:rPr>
              <a:t>Estetica </a:t>
            </a:r>
            <a:r>
              <a:rPr sz="1150" b="0" i="0">
                <a:solidFill>
                  <a:srgbClr val="64748B"/>
                </a:solidFill>
                <a:latin typeface="Segoe UI"/>
              </a:rPr>
              <a:t>→ fotografia, restauracion.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PANORAMA — MAS ALLA DE LA GUIA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Otras familias de Super-Resolucion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81328"/>
            <a:ext cx="82296" cy="17830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Difusion (SR generativa)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56816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SOTA en realismo · iterativa · lenta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SR3, Stable Diffusion x4 upscaler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StableSR / DiffBIR / SUPIR (prior SD, texto)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ResShift / SinSR: difusion eficiente (1-4 pasos)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481328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88536" y="1481328"/>
            <a:ext cx="82296" cy="178308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6093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Escala arbitraria (INR)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1956816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cualquier factor con un solo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340864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LIIF, LTE, CiaoSR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Funcion continua de la imagen: (x,y) -&gt; color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Amplia x2.7, x5.3... no solo x2/x4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481328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2" y="1481328"/>
            <a:ext cx="82296" cy="17830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60934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Transformers &gt; Swin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1956816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lider actual en PSNR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40864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HAT (hybrid attention)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IPT, SRFormer, DAT, GRL, ELAN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Mas contexto, mismo o menos coste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10712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410712"/>
            <a:ext cx="82296" cy="178308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3872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State-space / Mamba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388620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contexto global, coste lineal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70248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MambaIR (2024)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Alternativa a la atencion cuadratica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Escala mejor a imagenes grandes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3410712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88536" y="3410712"/>
            <a:ext cx="82296" cy="178308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353872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Zero-shot / interno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07992" y="388620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sin dataset externo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270248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ZSSR, Deep Image Prior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Se entrena con la propia imagen de test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KernelGAN: estima el kernel (blind SR)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2" y="3410712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28432" y="3410712"/>
            <a:ext cx="82296" cy="1783080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47888" y="3538728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Restauracion de caras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886200"/>
            <a:ext cx="3108960" cy="274320"/>
          </a:xfrm>
          <a:prstGeom prst="roundRect">
            <a:avLst>
              <a:gd name="adj" fmla="val 8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prior facial (StyleGAN)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70248"/>
            <a:ext cx="3191256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5B6B82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GFP-GAN, CodeFormer, GPEN, PULSE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5B6B82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Reconstruye rostros con identidad plausible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30" b="1" i="0">
                <a:solidFill>
                  <a:srgbClr val="5B6B82"/>
                </a:solidFill>
                <a:latin typeface="Segoe UI"/>
              </a:rPr>
              <a:t>– </a:t>
            </a:r>
            <a:r>
              <a:rPr sz="1030" b="0" i="0">
                <a:solidFill>
                  <a:srgbClr val="0F172A"/>
                </a:solidFill>
                <a:latin typeface="Segoe UI"/>
              </a:rPr>
              <a:t>Detras del 'realzar caras' de las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42432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742432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Fuera de SISR: 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Flow-based (SRFlow) · Reference-based (TTSR, MASA-SR) · Video SR (EDVR, BasicVSR++)  —  difusion = mejor realismo pero mas lenta y mas alucinacion que GAN.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DEMO —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Lo que corre en Zoom_Resize_Image_extended.ipynb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7498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6420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1. Interpolacion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45920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PIL &amp; OpenCV: Nearest / Bilineal / Bicubica / Lanczos sobre check.tif.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95728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395728"/>
            <a:ext cx="82296" cy="749808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50545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2. degrade()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87168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Achica + reamplia con bicubica → par (HR, LR) para el ejemplo.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36976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236976"/>
            <a:ext cx="82296" cy="74980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34670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3. Tabla RAISR-toy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28416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Cuantiza vecindario 3x3 (Q cajas), aprende color medio por caja.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78224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078224"/>
            <a:ext cx="82296" cy="749808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1879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4. Real-ESRGAN x4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69664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Pesos auto-descargados; Lanczos vs Real-ESRGAN sobre zermatt.jpg.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19472"/>
            <a:ext cx="69037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919472"/>
            <a:ext cx="82296" cy="749808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0292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72A"/>
                </a:solidFill>
                <a:latin typeface="Segoe UI"/>
              </a:rPr>
              <a:t>5. Swin2SR x4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010912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30" b="0" i="0">
                <a:solidFill>
                  <a:srgbClr val="334055"/>
                </a:solidFill>
                <a:latin typeface="Segoe UI"/>
              </a:rPr>
              <a:t>Transformer HF sobre recorte 96px: LR / Lanczos / Real-ESRGAN / Swin2SR.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155448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1554480"/>
            <a:ext cx="82296" cy="4480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82128" y="1682496"/>
            <a:ext cx="3593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Notas practicas (Colab / T4)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2057400"/>
            <a:ext cx="3611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T4 (16 GB) basta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para Real-ESRGAN x4 y Swin2SR sobre recortes razonables.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Real-ESRGAN: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usa tile para imagenes grandes.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Swin2SR: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el mas sensible a VRAM; entrada &lt; ~512px o trocear.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Canal Y (YCbCr):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mucha SR opera en luminancia y amplia croma aparte.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Factor de escala: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usa el modelo del s correcto; x2 dos veces ≠ x4 entrenado.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30" b="1" i="0">
                <a:solidFill>
                  <a:srgbClr val="122A4A"/>
                </a:solidFill>
                <a:latin typeface="Segoe UI"/>
              </a:rPr>
              <a:t>– </a:t>
            </a:r>
            <a:r>
              <a:rPr sz="1130" b="1" i="0">
                <a:solidFill>
                  <a:srgbClr val="0F172A"/>
                </a:solidFill>
                <a:latin typeface="Segoe UI"/>
              </a:rPr>
              <a:t>Entrada: </a:t>
            </a:r>
            <a:r>
              <a:rPr sz="1130" b="0" i="0">
                <a:solidFill>
                  <a:srgbClr val="0F172A"/>
                </a:solidFill>
                <a:latin typeface="Segoe UI"/>
              </a:rPr>
              <a:t>da la LR real, no una ya ampliada con bicubica.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FFFFFF"/>
                </a:solidFill>
                <a:latin typeface="Segoe UI Light"/>
              </a:rPr>
              <a:t>Ideas para llevarse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91440" cy="13716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B8CF"/>
                </a:solidFill>
                <a:latin typeface="Segoe UI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El reescalado es ill-posed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no hay una unica HR; el metodo aporta el prior que decide.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063240"/>
            <a:ext cx="91440" cy="13716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D6CDF"/>
                </a:solidFill>
                <a:latin typeface="Segoe UI Ligh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4612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La interpolacion lineal tiene techo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nucleo fijo = no anade frecuencias nuevas, solo redistribuye.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720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572000"/>
            <a:ext cx="91440" cy="137160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9E8A"/>
                </a:solidFill>
                <a:latin typeface="Segoe UI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5488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Aprender el prior rompe el techo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de tablas (RAISR) a CNNs que generalizan sin almacenar casos.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91440" cy="137160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73736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A63B"/>
                </a:solidFill>
                <a:latin typeface="Segoe UI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73736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GANs = realismo, no fidelidad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perdida perceptual + discriminador → texturas plausibles.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632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063240"/>
            <a:ext cx="91440" cy="137160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24612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7A5CE0"/>
                </a:solidFill>
                <a:latin typeface="Segoe UI Ligh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24612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Transformers dan contexto global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Swin(2SR): atencion por ventanas, coste lineal, SOTA.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5720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4572000"/>
            <a:ext cx="91440" cy="137160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4754880"/>
            <a:ext cx="640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04F5F"/>
                </a:solidFill>
                <a:latin typeface="Segoe UI Light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754880"/>
            <a:ext cx="4069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Mide con varias metricas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BCCBE2"/>
                </a:solidFill>
                <a:latin typeface="Segoe UI"/>
              </a:rPr>
              <a:t>PSNR/SSIM vs LPIPS: el dilema percepcion-distorsion es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D6CDF"/>
                </a:solidFill>
                <a:latin typeface="Segoe UI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72A"/>
                </a:solidFill>
                <a:latin typeface="Segoe UI Light"/>
              </a:rPr>
              <a:t>Papers y recursos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Segoe UI"/>
              </a:rPr>
              <a:t>De la interpolacion a la Super-Resolucion  •  The Machine Learning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103120"/>
          </a:xfrm>
          <a:prstGeom prst="rect">
            <a:avLst/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0078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B6B82"/>
                </a:solidFill>
                <a:latin typeface="Segoe UI"/>
              </a:rPr>
              <a:t>Interpolacion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21408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5B6B82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Keys, Cubic convolution interpolation (1981)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5B6B82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Lanczos resampling — mazzo.li/posts/lanczos.html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88536" y="1554480"/>
            <a:ext cx="82296" cy="2103120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70078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A63B"/>
                </a:solidFill>
                <a:latin typeface="Segoe UI"/>
              </a:rPr>
              <a:t>SR basada en ejemplos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21408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Freeman et al., Example-Based SR (2002)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Yang et al., Sparse Representation (2010)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F2A63B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Romano et al., RAISR (2016) — arXiv:1606.01299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2" y="1554480"/>
            <a:ext cx="82296" cy="2103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D6CDF"/>
                </a:solidFill>
                <a:latin typeface="Segoe UI"/>
              </a:rPr>
              <a:t>SR con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Dong, SRCNN (2014) — arXiv:1501.00092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Shi, ESPCN (2016) — arXiv:1609.05158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Lim, EDSR (2017) — arXiv:1707.02921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2D6CD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Zhang, RCAN (2018) — arXiv:1807.02758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22192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822192"/>
            <a:ext cx="82296" cy="210312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96849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04F5F"/>
                </a:solidFill>
                <a:latin typeface="Segoe UI"/>
              </a:rPr>
              <a:t>SR perceptual / 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389120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Ledig, SRGAN (2017) — arXiv:1609.04802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Wang, ESRGAN (2018) — arXiv:1809.00219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E04F5F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Wang, Real-ESRGAN (2021) — arXiv:2107.10833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3822192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88536" y="3822192"/>
            <a:ext cx="82296" cy="2103120"/>
          </a:xfrm>
          <a:prstGeom prst="rect">
            <a:avLst/>
          </a:prstGeom>
          <a:solidFill>
            <a:srgbClr val="7A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07992" y="396849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A5CE0"/>
                </a:solidFill>
                <a:latin typeface="Segoe UI"/>
              </a:rPr>
              <a:t>Transformers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4389120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Dosovitskiy, ViT (2020) — arXiv:2010.11929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Liu, Swin (2021) — arXiv:2103.14030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Liang, SwinIR (2021) — arXiv:2108.10257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7A5CE0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Conde, Swin2SR (2022) — arXiv:2209.11345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822192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28432" y="3822192"/>
            <a:ext cx="82296" cy="2103120"/>
          </a:xfrm>
          <a:prstGeom prst="rect">
            <a:avLst/>
          </a:prstGeom>
          <a:solidFill>
            <a:srgbClr val="0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396849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9E8A"/>
                </a:solidFill>
                <a:latin typeface="Segoe UI"/>
              </a:rPr>
              <a:t>Metricas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389120"/>
            <a:ext cx="319125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Blau &amp; Michaeli, Perception-Distortion (2018)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Zhang, LPIPS (2018) — arXiv:1801.03924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60" b="1" i="0">
                <a:solidFill>
                  <a:srgbClr val="0E9E8A"/>
                </a:solidFill>
                <a:latin typeface="Segoe UI"/>
              </a:rPr>
              <a:t>– </a:t>
            </a:r>
            <a:r>
              <a:rPr sz="1060" b="0" i="0">
                <a:solidFill>
                  <a:srgbClr val="0F172A"/>
                </a:solidFill>
                <a:latin typeface="Segoe UI"/>
              </a:rPr>
              <a:t>HF: Swin2SRForImageSuperResolution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2778</Words>
  <Application>Microsoft Office PowerPoint</Application>
  <PresentationFormat>Widescreen</PresentationFormat>
  <Paragraphs>345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Segoe UI</vt:lpstr>
      <vt:lpstr>Segoe UI Light</vt:lpstr>
      <vt:lpstr>Office Theme</vt:lpstr>
      <vt:lpstr>1_Office Theme</vt:lpstr>
      <vt:lpstr>Computer Vision:  From Classic Interpolation to Super Resolution SISR  Interpolation → RAISR → CNN → GAN → Transformer → Diffusion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Jan SHR</cp:lastModifiedBy>
  <cp:revision>5</cp:revision>
  <dcterms:created xsi:type="dcterms:W3CDTF">2013-01-27T09:14:16Z</dcterms:created>
  <dcterms:modified xsi:type="dcterms:W3CDTF">2026-07-04T17:14:05Z</dcterms:modified>
  <cp:category/>
</cp:coreProperties>
</file>